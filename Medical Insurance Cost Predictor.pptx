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3" r:id="rId6"/>
    <p:sldId id="261" r:id="rId7"/>
    <p:sldId id="262" r:id="rId8"/>
    <p:sldId id="264" r:id="rId9"/>
  </p:sldIdLst>
  <p:sldSz cx="18288000" cy="10287000"/>
  <p:notesSz cx="6858000" cy="9144000"/>
  <p:embeddedFontLst>
    <p:embeddedFont>
      <p:font typeface="Source Serif Pro Bold" panose="020B0604020202020204" charset="0"/>
      <p:regular r:id="rId10"/>
    </p:embeddedFont>
    <p:embeddedFont>
      <p:font typeface="Roboto Bold" panose="020B0604020202020204" charset="0"/>
      <p:regular r:id="rId11"/>
    </p:embeddedFont>
    <p:embeddedFont>
      <p:font typeface="Calibri" panose="020F0502020204030204" pitchFamily="34" charset="0"/>
      <p:regular r:id="rId12"/>
      <p:bold r:id="rId13"/>
      <p:italic r:id="rId14"/>
      <p:boldItalic r:id="rId15"/>
    </p:embeddedFont>
    <p:embeddedFont>
      <p:font typeface="Roboto"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hyperlink" Target="Medical%20Insurance%20Cost%20Predictor.pptx"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29850" y="1714500"/>
            <a:ext cx="1962150" cy="2362200"/>
          </a:xfrm>
          <a:custGeom>
            <a:avLst/>
            <a:gdLst/>
            <a:ahLst/>
            <a:cxnLst/>
            <a:rect l="l" t="t" r="r" b="b"/>
            <a:pathLst>
              <a:path w="1962150" h="2362200">
                <a:moveTo>
                  <a:pt x="0" y="0"/>
                </a:moveTo>
                <a:lnTo>
                  <a:pt x="1962150" y="0"/>
                </a:lnTo>
                <a:lnTo>
                  <a:pt x="1962150" y="2362200"/>
                </a:lnTo>
                <a:lnTo>
                  <a:pt x="0" y="2362200"/>
                </a:lnTo>
                <a:lnTo>
                  <a:pt x="0" y="0"/>
                </a:lnTo>
                <a:close/>
              </a:path>
            </a:pathLst>
          </a:custGeom>
          <a:blipFill>
            <a:blip r:embed="rId2">
              <a:alphaModFix amt="31000"/>
            </a:blip>
            <a:stretch>
              <a:fillRect/>
            </a:stretch>
          </a:blipFill>
        </p:spPr>
      </p:sp>
      <p:sp>
        <p:nvSpPr>
          <p:cNvPr id="3" name="Freeform 3"/>
          <p:cNvSpPr/>
          <p:nvPr/>
        </p:nvSpPr>
        <p:spPr>
          <a:xfrm>
            <a:off x="1249679" y="1719261"/>
            <a:ext cx="8715375" cy="6219825"/>
          </a:xfrm>
          <a:custGeom>
            <a:avLst/>
            <a:gdLst/>
            <a:ahLst/>
            <a:cxnLst/>
            <a:rect l="l" t="t" r="r" b="b"/>
            <a:pathLst>
              <a:path w="8715375" h="6219825">
                <a:moveTo>
                  <a:pt x="0" y="0"/>
                </a:moveTo>
                <a:lnTo>
                  <a:pt x="8715375" y="0"/>
                </a:lnTo>
                <a:lnTo>
                  <a:pt x="8715375" y="6219826"/>
                </a:lnTo>
                <a:lnTo>
                  <a:pt x="0" y="6219826"/>
                </a:lnTo>
                <a:lnTo>
                  <a:pt x="0" y="0"/>
                </a:lnTo>
                <a:close/>
              </a:path>
            </a:pathLst>
          </a:custGeom>
          <a:blipFill>
            <a:blip r:embed="rId3">
              <a:alphaModFix amt="25000"/>
            </a:blip>
            <a:stretch>
              <a:fillRect/>
            </a:stretch>
          </a:blipFill>
        </p:spPr>
      </p:sp>
      <p:sp>
        <p:nvSpPr>
          <p:cNvPr id="4" name="Freeform 4"/>
          <p:cNvSpPr/>
          <p:nvPr/>
        </p:nvSpPr>
        <p:spPr>
          <a:xfrm>
            <a:off x="8324850" y="3195828"/>
            <a:ext cx="8934450" cy="4933950"/>
          </a:xfrm>
          <a:custGeom>
            <a:avLst/>
            <a:gdLst/>
            <a:ahLst/>
            <a:cxnLst/>
            <a:rect l="l" t="t" r="r" b="b"/>
            <a:pathLst>
              <a:path w="8934450" h="4933950">
                <a:moveTo>
                  <a:pt x="0" y="0"/>
                </a:moveTo>
                <a:lnTo>
                  <a:pt x="8934450" y="0"/>
                </a:lnTo>
                <a:lnTo>
                  <a:pt x="8934450" y="4933950"/>
                </a:lnTo>
                <a:lnTo>
                  <a:pt x="0" y="4933950"/>
                </a:lnTo>
                <a:lnTo>
                  <a:pt x="0" y="0"/>
                </a:lnTo>
                <a:close/>
              </a:path>
            </a:pathLst>
          </a:custGeom>
          <a:blipFill>
            <a:blip r:embed="rId4">
              <a:alphaModFix amt="34000"/>
            </a:blip>
            <a:stretch>
              <a:fillRect/>
            </a:stretch>
          </a:blipFill>
        </p:spPr>
      </p:sp>
      <p:sp>
        <p:nvSpPr>
          <p:cNvPr id="5" name="Freeform 5"/>
          <p:cNvSpPr/>
          <p:nvPr/>
        </p:nvSpPr>
        <p:spPr>
          <a:xfrm>
            <a:off x="8715375" y="4057650"/>
            <a:ext cx="7410450" cy="3438525"/>
          </a:xfrm>
          <a:custGeom>
            <a:avLst/>
            <a:gdLst/>
            <a:ahLst/>
            <a:cxnLst/>
            <a:rect l="l" t="t" r="r" b="b"/>
            <a:pathLst>
              <a:path w="7410450" h="3438525">
                <a:moveTo>
                  <a:pt x="0" y="0"/>
                </a:moveTo>
                <a:lnTo>
                  <a:pt x="7410450" y="0"/>
                </a:lnTo>
                <a:lnTo>
                  <a:pt x="7410450" y="3438525"/>
                </a:lnTo>
                <a:lnTo>
                  <a:pt x="0" y="3438525"/>
                </a:lnTo>
                <a:lnTo>
                  <a:pt x="0" y="0"/>
                </a:lnTo>
                <a:close/>
              </a:path>
            </a:pathLst>
          </a:custGeom>
          <a:blipFill>
            <a:blip r:embed="rId5">
              <a:alphaModFix amt="31000"/>
            </a:blip>
            <a:stretch>
              <a:fillRect/>
            </a:stretch>
          </a:blipFill>
        </p:spPr>
      </p:sp>
      <p:sp>
        <p:nvSpPr>
          <p:cNvPr id="6" name="TextBox 6"/>
          <p:cNvSpPr txBox="1"/>
          <p:nvPr/>
        </p:nvSpPr>
        <p:spPr>
          <a:xfrm>
            <a:off x="1235824" y="3896716"/>
            <a:ext cx="15846552" cy="1037615"/>
          </a:xfrm>
          <a:prstGeom prst="rect">
            <a:avLst/>
          </a:prstGeom>
        </p:spPr>
        <p:txBody>
          <a:bodyPr lIns="0" tIns="0" rIns="0" bIns="0" rtlCol="0" anchor="t">
            <a:spAutoFit/>
          </a:bodyPr>
          <a:lstStyle/>
          <a:p>
            <a:pPr algn="l">
              <a:lnSpc>
                <a:spcPts val="7851"/>
              </a:lnSpc>
            </a:pPr>
            <a:r>
              <a:rPr lang="en-US" sz="7851" b="1">
                <a:solidFill>
                  <a:srgbClr val="003C5B"/>
                </a:solidFill>
                <a:latin typeface="Source Serif Pro Bold"/>
                <a:ea typeface="Source Serif Pro Bold"/>
                <a:cs typeface="Source Serif Pro Bold"/>
                <a:sym typeface="Source Serif Pro Bold"/>
              </a:rPr>
              <a:t>Medical Insurance Cost Predictor</a:t>
            </a:r>
          </a:p>
        </p:txBody>
      </p:sp>
      <p:sp>
        <p:nvSpPr>
          <p:cNvPr id="7" name="TextBox 7"/>
          <p:cNvSpPr txBox="1"/>
          <p:nvPr/>
        </p:nvSpPr>
        <p:spPr>
          <a:xfrm>
            <a:off x="1170432" y="5586603"/>
            <a:ext cx="4357688" cy="1321733"/>
          </a:xfrm>
          <a:prstGeom prst="rect">
            <a:avLst/>
          </a:prstGeom>
        </p:spPr>
        <p:txBody>
          <a:bodyPr lIns="0" tIns="0" rIns="0" bIns="0" rtlCol="0" anchor="t">
            <a:spAutoFit/>
          </a:bodyPr>
          <a:lstStyle/>
          <a:p>
            <a:pPr algn="l">
              <a:lnSpc>
                <a:spcPts val="3578"/>
              </a:lnSpc>
            </a:pPr>
            <a:r>
              <a:rPr lang="en-US" sz="2385" b="1">
                <a:solidFill>
                  <a:srgbClr val="003C5B"/>
                </a:solidFill>
                <a:latin typeface="Source Serif Pro Bold"/>
                <a:ea typeface="Source Serif Pro Bold"/>
                <a:cs typeface="Source Serif Pro Bold"/>
                <a:sym typeface="Source Serif Pro Bold"/>
              </a:rPr>
              <a:t>Team members:</a:t>
            </a:r>
          </a:p>
          <a:p>
            <a:pPr algn="l">
              <a:lnSpc>
                <a:spcPts val="3578"/>
              </a:lnSpc>
            </a:pPr>
            <a:r>
              <a:rPr lang="en-US" sz="2385" b="1">
                <a:solidFill>
                  <a:srgbClr val="003C5B"/>
                </a:solidFill>
                <a:latin typeface="Source Serif Pro Bold"/>
                <a:ea typeface="Source Serif Pro Bold"/>
                <a:cs typeface="Source Serif Pro Bold"/>
                <a:sym typeface="Source Serif Pro Bold"/>
              </a:rPr>
              <a:t>P. Hansini - 2420030239</a:t>
            </a:r>
          </a:p>
          <a:p>
            <a:pPr algn="l">
              <a:lnSpc>
                <a:spcPts val="3578"/>
              </a:lnSpc>
              <a:spcBef>
                <a:spcPct val="0"/>
              </a:spcBef>
            </a:pPr>
            <a:r>
              <a:rPr lang="en-US" sz="2385" b="1">
                <a:solidFill>
                  <a:srgbClr val="003C5B"/>
                </a:solidFill>
                <a:latin typeface="Source Serif Pro Bold"/>
                <a:ea typeface="Source Serif Pro Bold"/>
                <a:cs typeface="Source Serif Pro Bold"/>
                <a:sym typeface="Source Serif Pro Bold"/>
              </a:rPr>
              <a:t>G. Sreevarsha - 2420030241</a:t>
            </a:r>
          </a:p>
        </p:txBody>
      </p:sp>
      <p:sp>
        <p:nvSpPr>
          <p:cNvPr id="8" name="AutoShape 8"/>
          <p:cNvSpPr/>
          <p:nvPr/>
        </p:nvSpPr>
        <p:spPr>
          <a:xfrm>
            <a:off x="2698864" y="4934331"/>
            <a:ext cx="12890271" cy="0"/>
          </a:xfrm>
          <a:prstGeom prst="line">
            <a:avLst/>
          </a:prstGeom>
          <a:ln w="38100" cap="flat">
            <a:solidFill>
              <a:srgbClr val="000000">
                <a:alpha val="44706"/>
              </a:srgbClr>
            </a:solidFill>
            <a:prstDash val="solid"/>
            <a:headEnd type="none" w="sm" len="sm"/>
            <a:tailEnd type="none" w="sm" len="sm"/>
          </a:ln>
        </p:spPr>
      </p:sp>
      <p:sp>
        <p:nvSpPr>
          <p:cNvPr id="9" name="TextBox 9"/>
          <p:cNvSpPr txBox="1"/>
          <p:nvPr/>
        </p:nvSpPr>
        <p:spPr>
          <a:xfrm>
            <a:off x="518960" y="7257744"/>
            <a:ext cx="3131743" cy="872034"/>
          </a:xfrm>
          <a:prstGeom prst="rect">
            <a:avLst/>
          </a:prstGeom>
        </p:spPr>
        <p:txBody>
          <a:bodyPr wrap="square" lIns="0" tIns="0" rIns="0" bIns="0" rtlCol="0" anchor="t">
            <a:spAutoFit/>
          </a:bodyPr>
          <a:lstStyle/>
          <a:p>
            <a:pPr algn="ctr">
              <a:lnSpc>
                <a:spcPts val="3366"/>
              </a:lnSpc>
            </a:pPr>
            <a:r>
              <a:rPr lang="en-US" sz="2244" b="1" dirty="0">
                <a:solidFill>
                  <a:srgbClr val="003C5B"/>
                </a:solidFill>
                <a:latin typeface="Source Serif Pro Bold"/>
                <a:ea typeface="Source Serif Pro Bold"/>
                <a:cs typeface="Source Serif Pro Bold"/>
                <a:sym typeface="Source Serif Pro Bold"/>
              </a:rPr>
              <a:t>Project Guide:</a:t>
            </a:r>
          </a:p>
          <a:p>
            <a:pPr algn="ctr">
              <a:lnSpc>
                <a:spcPts val="3366"/>
              </a:lnSpc>
              <a:spcBef>
                <a:spcPct val="0"/>
              </a:spcBef>
            </a:pPr>
            <a:r>
              <a:rPr lang="en-US" sz="2244" b="1" dirty="0">
                <a:solidFill>
                  <a:srgbClr val="003C5B"/>
                </a:solidFill>
                <a:latin typeface="Source Serif Pro Bold"/>
                <a:ea typeface="Source Serif Pro Bold"/>
                <a:cs typeface="Source Serif Pro Bold"/>
                <a:sym typeface="Source Serif Pro Bold"/>
              </a:rPr>
              <a:t>Dr. N. Sunanda</a:t>
            </a:r>
          </a:p>
        </p:txBody>
      </p:sp>
      <p:pic>
        <p:nvPicPr>
          <p:cNvPr id="10" name="Picture 9"/>
          <p:cNvPicPr>
            <a:picLocks noChangeAspect="1"/>
          </p:cNvPicPr>
          <p:nvPr/>
        </p:nvPicPr>
        <p:blipFill>
          <a:blip r:embed="rId6"/>
          <a:stretch>
            <a:fillRect/>
          </a:stretch>
        </p:blipFill>
        <p:spPr>
          <a:xfrm>
            <a:off x="0" y="187579"/>
            <a:ext cx="3505200" cy="195078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5840075" y="0"/>
            <a:ext cx="2838450" cy="10287000"/>
          </a:xfrm>
          <a:custGeom>
            <a:avLst/>
            <a:gdLst/>
            <a:ahLst/>
            <a:cxnLst/>
            <a:rect l="l" t="t" r="r" b="b"/>
            <a:pathLst>
              <a:path w="2838450" h="10287000">
                <a:moveTo>
                  <a:pt x="0" y="0"/>
                </a:moveTo>
                <a:lnTo>
                  <a:pt x="2838450" y="0"/>
                </a:lnTo>
                <a:lnTo>
                  <a:pt x="2838450" y="10287000"/>
                </a:lnTo>
                <a:lnTo>
                  <a:pt x="0" y="10287000"/>
                </a:lnTo>
                <a:lnTo>
                  <a:pt x="0" y="0"/>
                </a:lnTo>
                <a:close/>
              </a:path>
            </a:pathLst>
          </a:custGeom>
          <a:blipFill>
            <a:blip r:embed="rId3">
              <a:alphaModFix amt="65000"/>
            </a:blip>
            <a:stretch>
              <a:fillRect/>
            </a:stretch>
          </a:blipFill>
          <a:ln cap="sq">
            <a:noFill/>
            <a:prstDash val="solid"/>
            <a:miter/>
          </a:ln>
        </p:spPr>
      </p:sp>
      <p:sp>
        <p:nvSpPr>
          <p:cNvPr id="4" name="TextBox 4"/>
          <p:cNvSpPr txBox="1"/>
          <p:nvPr/>
        </p:nvSpPr>
        <p:spPr>
          <a:xfrm>
            <a:off x="566928" y="721129"/>
            <a:ext cx="7819835" cy="1166494"/>
          </a:xfrm>
          <a:prstGeom prst="rect">
            <a:avLst/>
          </a:prstGeom>
        </p:spPr>
        <p:txBody>
          <a:bodyPr lIns="0" tIns="0" rIns="0" bIns="0" rtlCol="0" anchor="t">
            <a:spAutoFit/>
          </a:bodyPr>
          <a:lstStyle/>
          <a:p>
            <a:pPr algn="l">
              <a:lnSpc>
                <a:spcPts val="8799"/>
              </a:lnSpc>
            </a:pPr>
            <a:r>
              <a:rPr lang="en-US" sz="8799" b="1" spc="-175">
                <a:solidFill>
                  <a:srgbClr val="00334D"/>
                </a:solidFill>
                <a:latin typeface="Source Serif Pro Bold"/>
                <a:ea typeface="Source Serif Pro Bold"/>
                <a:cs typeface="Source Serif Pro Bold"/>
                <a:sym typeface="Source Serif Pro Bold"/>
              </a:rPr>
              <a:t>Introduction</a:t>
            </a:r>
          </a:p>
        </p:txBody>
      </p:sp>
      <p:sp>
        <p:nvSpPr>
          <p:cNvPr id="5" name="Freeform 5"/>
          <p:cNvSpPr/>
          <p:nvPr/>
        </p:nvSpPr>
        <p:spPr>
          <a:xfrm>
            <a:off x="428625" y="1810157"/>
            <a:ext cx="11082630" cy="285443"/>
          </a:xfrm>
          <a:custGeom>
            <a:avLst/>
            <a:gdLst/>
            <a:ahLst/>
            <a:cxnLst/>
            <a:rect l="l" t="t" r="r" b="b"/>
            <a:pathLst>
              <a:path w="11082630" h="285443">
                <a:moveTo>
                  <a:pt x="0" y="0"/>
                </a:moveTo>
                <a:lnTo>
                  <a:pt x="11082630" y="0"/>
                </a:lnTo>
                <a:lnTo>
                  <a:pt x="11082630" y="285443"/>
                </a:lnTo>
                <a:lnTo>
                  <a:pt x="0" y="285443"/>
                </a:lnTo>
                <a:lnTo>
                  <a:pt x="0" y="0"/>
                </a:lnTo>
                <a:close/>
              </a:path>
            </a:pathLst>
          </a:custGeom>
          <a:blipFill>
            <a:blip r:embed="rId4">
              <a:alphaModFix amt="81000"/>
            </a:blip>
            <a:stretch>
              <a:fillRect/>
            </a:stretch>
          </a:blipFill>
        </p:spPr>
      </p:sp>
      <p:sp>
        <p:nvSpPr>
          <p:cNvPr id="6" name="TextBox 6"/>
          <p:cNvSpPr txBox="1"/>
          <p:nvPr/>
        </p:nvSpPr>
        <p:spPr>
          <a:xfrm>
            <a:off x="530352" y="2384983"/>
            <a:ext cx="8613648" cy="1145441"/>
          </a:xfrm>
          <a:prstGeom prst="rect">
            <a:avLst/>
          </a:prstGeom>
        </p:spPr>
        <p:txBody>
          <a:bodyPr lIns="0" tIns="0" rIns="0" bIns="0" rtlCol="0" anchor="t">
            <a:spAutoFit/>
          </a:bodyPr>
          <a:lstStyle/>
          <a:p>
            <a:pPr algn="l">
              <a:lnSpc>
                <a:spcPts val="4590"/>
              </a:lnSpc>
            </a:pPr>
            <a:r>
              <a:rPr lang="en-US" sz="3278" b="1">
                <a:solidFill>
                  <a:srgbClr val="00334D"/>
                </a:solidFill>
                <a:latin typeface="Roboto Bold"/>
                <a:ea typeface="Roboto Bold"/>
                <a:cs typeface="Roboto Bold"/>
                <a:sym typeface="Roboto Bold"/>
              </a:rPr>
              <a:t>An intelligent solution that estimates medical insurance costs using machine learning.</a:t>
            </a:r>
          </a:p>
        </p:txBody>
      </p:sp>
      <p:sp>
        <p:nvSpPr>
          <p:cNvPr id="7" name="Freeform 7"/>
          <p:cNvSpPr/>
          <p:nvPr/>
        </p:nvSpPr>
        <p:spPr>
          <a:xfrm>
            <a:off x="319088" y="4198690"/>
            <a:ext cx="8067675" cy="4544809"/>
          </a:xfrm>
          <a:custGeom>
            <a:avLst/>
            <a:gdLst/>
            <a:ahLst/>
            <a:cxnLst/>
            <a:rect l="l" t="t" r="r" b="b"/>
            <a:pathLst>
              <a:path w="8067675" h="4544809">
                <a:moveTo>
                  <a:pt x="0" y="0"/>
                </a:moveTo>
                <a:lnTo>
                  <a:pt x="8067674" y="0"/>
                </a:lnTo>
                <a:lnTo>
                  <a:pt x="8067674" y="4544809"/>
                </a:lnTo>
                <a:lnTo>
                  <a:pt x="0" y="4544809"/>
                </a:lnTo>
                <a:lnTo>
                  <a:pt x="0" y="0"/>
                </a:lnTo>
                <a:close/>
              </a:path>
            </a:pathLst>
          </a:custGeom>
          <a:blipFill>
            <a:blip r:embed="rId5"/>
            <a:stretch>
              <a:fillRect b="-17993"/>
            </a:stretch>
          </a:blipFill>
        </p:spPr>
      </p:sp>
      <p:sp>
        <p:nvSpPr>
          <p:cNvPr id="8" name="TextBox 8"/>
          <p:cNvSpPr txBox="1"/>
          <p:nvPr/>
        </p:nvSpPr>
        <p:spPr>
          <a:xfrm>
            <a:off x="802636" y="4548210"/>
            <a:ext cx="6089904" cy="828898"/>
          </a:xfrm>
          <a:prstGeom prst="rect">
            <a:avLst/>
          </a:prstGeom>
        </p:spPr>
        <p:txBody>
          <a:bodyPr lIns="0" tIns="0" rIns="0" bIns="0" rtlCol="0" anchor="t">
            <a:spAutoFit/>
          </a:bodyPr>
          <a:lstStyle/>
          <a:p>
            <a:pPr algn="l">
              <a:lnSpc>
                <a:spcPts val="3366"/>
              </a:lnSpc>
            </a:pPr>
            <a:r>
              <a:rPr lang="en-US" sz="2244">
                <a:solidFill>
                  <a:srgbClr val="00334D"/>
                </a:solidFill>
                <a:latin typeface="Roboto"/>
                <a:ea typeface="Roboto"/>
                <a:cs typeface="Roboto"/>
                <a:sym typeface="Roboto"/>
              </a:rPr>
              <a:t>Considers key factors such as age, BMI, smoking status, dependents, gender, and region</a:t>
            </a:r>
          </a:p>
        </p:txBody>
      </p:sp>
      <p:sp>
        <p:nvSpPr>
          <p:cNvPr id="9" name="Freeform 9"/>
          <p:cNvSpPr/>
          <p:nvPr/>
        </p:nvSpPr>
        <p:spPr>
          <a:xfrm>
            <a:off x="647700" y="5613312"/>
            <a:ext cx="7410450" cy="219075"/>
          </a:xfrm>
          <a:custGeom>
            <a:avLst/>
            <a:gdLst/>
            <a:ahLst/>
            <a:cxnLst/>
            <a:rect l="l" t="t" r="r" b="b"/>
            <a:pathLst>
              <a:path w="7410450" h="219075">
                <a:moveTo>
                  <a:pt x="0" y="0"/>
                </a:moveTo>
                <a:lnTo>
                  <a:pt x="7410450" y="0"/>
                </a:lnTo>
                <a:lnTo>
                  <a:pt x="7410450" y="219075"/>
                </a:lnTo>
                <a:lnTo>
                  <a:pt x="0" y="219075"/>
                </a:lnTo>
                <a:lnTo>
                  <a:pt x="0" y="0"/>
                </a:lnTo>
                <a:close/>
              </a:path>
            </a:pathLst>
          </a:custGeom>
          <a:blipFill>
            <a:blip r:embed="rId6"/>
            <a:stretch>
              <a:fillRect/>
            </a:stretch>
          </a:blipFill>
        </p:spPr>
      </p:sp>
      <p:sp>
        <p:nvSpPr>
          <p:cNvPr id="10" name="TextBox 10"/>
          <p:cNvSpPr txBox="1"/>
          <p:nvPr/>
        </p:nvSpPr>
        <p:spPr>
          <a:xfrm>
            <a:off x="804672" y="6060987"/>
            <a:ext cx="4736592" cy="828898"/>
          </a:xfrm>
          <a:prstGeom prst="rect">
            <a:avLst/>
          </a:prstGeom>
        </p:spPr>
        <p:txBody>
          <a:bodyPr lIns="0" tIns="0" rIns="0" bIns="0" rtlCol="0" anchor="t">
            <a:spAutoFit/>
          </a:bodyPr>
          <a:lstStyle/>
          <a:p>
            <a:pPr algn="l">
              <a:lnSpc>
                <a:spcPts val="3366"/>
              </a:lnSpc>
            </a:pPr>
            <a:r>
              <a:rPr lang="en-US" sz="2244">
                <a:solidFill>
                  <a:srgbClr val="00334D"/>
                </a:solidFill>
                <a:latin typeface="Roboto"/>
                <a:ea typeface="Roboto"/>
                <a:cs typeface="Roboto"/>
                <a:sym typeface="Roboto"/>
              </a:rPr>
              <a:t>Generates preliminary cost estimates</a:t>
            </a:r>
          </a:p>
          <a:p>
            <a:pPr algn="l">
              <a:lnSpc>
                <a:spcPts val="3366"/>
              </a:lnSpc>
            </a:pPr>
            <a:r>
              <a:rPr lang="en-US" sz="2244">
                <a:solidFill>
                  <a:srgbClr val="00334D"/>
                </a:solidFill>
                <a:latin typeface="Roboto"/>
                <a:ea typeface="Roboto"/>
                <a:cs typeface="Roboto"/>
                <a:sym typeface="Roboto"/>
              </a:rPr>
              <a:t>to support informed decision-making</a:t>
            </a:r>
          </a:p>
        </p:txBody>
      </p:sp>
      <p:sp>
        <p:nvSpPr>
          <p:cNvPr id="11" name="Freeform 11"/>
          <p:cNvSpPr/>
          <p:nvPr/>
        </p:nvSpPr>
        <p:spPr>
          <a:xfrm>
            <a:off x="647700" y="7194685"/>
            <a:ext cx="7410450" cy="219075"/>
          </a:xfrm>
          <a:custGeom>
            <a:avLst/>
            <a:gdLst/>
            <a:ahLst/>
            <a:cxnLst/>
            <a:rect l="l" t="t" r="r" b="b"/>
            <a:pathLst>
              <a:path w="7410450" h="219075">
                <a:moveTo>
                  <a:pt x="0" y="0"/>
                </a:moveTo>
                <a:lnTo>
                  <a:pt x="7410450" y="0"/>
                </a:lnTo>
                <a:lnTo>
                  <a:pt x="7410450" y="219075"/>
                </a:lnTo>
                <a:lnTo>
                  <a:pt x="0" y="219075"/>
                </a:lnTo>
                <a:lnTo>
                  <a:pt x="0" y="0"/>
                </a:lnTo>
                <a:close/>
              </a:path>
            </a:pathLst>
          </a:custGeom>
          <a:blipFill>
            <a:blip r:embed="rId7"/>
            <a:stretch>
              <a:fillRect/>
            </a:stretch>
          </a:blipFill>
        </p:spPr>
      </p:sp>
      <p:sp>
        <p:nvSpPr>
          <p:cNvPr id="12" name="TextBox 12"/>
          <p:cNvSpPr txBox="1"/>
          <p:nvPr/>
        </p:nvSpPr>
        <p:spPr>
          <a:xfrm>
            <a:off x="804672" y="7575685"/>
            <a:ext cx="5266944" cy="829925"/>
          </a:xfrm>
          <a:prstGeom prst="rect">
            <a:avLst/>
          </a:prstGeom>
        </p:spPr>
        <p:txBody>
          <a:bodyPr lIns="0" tIns="0" rIns="0" bIns="0" rtlCol="0" anchor="t">
            <a:spAutoFit/>
          </a:bodyPr>
          <a:lstStyle/>
          <a:p>
            <a:pPr algn="l">
              <a:lnSpc>
                <a:spcPts val="3325"/>
              </a:lnSpc>
            </a:pPr>
            <a:r>
              <a:rPr lang="en-US" sz="2217">
                <a:solidFill>
                  <a:srgbClr val="00334D"/>
                </a:solidFill>
                <a:latin typeface="Roboto"/>
                <a:ea typeface="Roboto"/>
                <a:cs typeface="Roboto"/>
                <a:sym typeface="Roboto"/>
              </a:rPr>
              <a:t>Designed to simplify and accelerate</a:t>
            </a:r>
          </a:p>
          <a:p>
            <a:pPr algn="l">
              <a:lnSpc>
                <a:spcPts val="3325"/>
              </a:lnSpc>
            </a:pPr>
            <a:r>
              <a:rPr lang="en-US" sz="2217">
                <a:solidFill>
                  <a:srgbClr val="00334D"/>
                </a:solidFill>
                <a:latin typeface="Roboto"/>
                <a:ea typeface="Roboto"/>
                <a:cs typeface="Roboto"/>
                <a:sym typeface="Roboto"/>
              </a:rPr>
              <a:t>cost estimation for users and researchers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914400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alphaModFix amt="31000"/>
            </a:blip>
            <a:stretch>
              <a:fillRect l="-2395"/>
            </a:stretch>
          </a:blipFill>
        </p:spPr>
      </p:sp>
      <p:sp>
        <p:nvSpPr>
          <p:cNvPr id="4" name="TextBox 4"/>
          <p:cNvSpPr txBox="1"/>
          <p:nvPr/>
        </p:nvSpPr>
        <p:spPr>
          <a:xfrm>
            <a:off x="658368" y="1123950"/>
            <a:ext cx="8654607" cy="1026892"/>
          </a:xfrm>
          <a:prstGeom prst="rect">
            <a:avLst/>
          </a:prstGeom>
        </p:spPr>
        <p:txBody>
          <a:bodyPr lIns="0" tIns="0" rIns="0" bIns="0" rtlCol="0" anchor="t">
            <a:spAutoFit/>
          </a:bodyPr>
          <a:lstStyle/>
          <a:p>
            <a:pPr algn="l">
              <a:lnSpc>
                <a:spcPts val="7842"/>
              </a:lnSpc>
            </a:pPr>
            <a:r>
              <a:rPr lang="en-US" sz="7398" b="1" spc="-147">
                <a:solidFill>
                  <a:srgbClr val="003C64"/>
                </a:solidFill>
                <a:latin typeface="Source Serif Pro Bold"/>
                <a:ea typeface="Source Serif Pro Bold"/>
                <a:cs typeface="Source Serif Pro Bold"/>
                <a:sym typeface="Source Serif Pro Bold"/>
              </a:rPr>
              <a:t>Problem Statement</a:t>
            </a:r>
          </a:p>
        </p:txBody>
      </p:sp>
      <p:sp>
        <p:nvSpPr>
          <p:cNvPr id="5" name="Freeform 5"/>
          <p:cNvSpPr/>
          <p:nvPr/>
        </p:nvSpPr>
        <p:spPr>
          <a:xfrm>
            <a:off x="454991" y="2359670"/>
            <a:ext cx="12839304" cy="330688"/>
          </a:xfrm>
          <a:custGeom>
            <a:avLst/>
            <a:gdLst/>
            <a:ahLst/>
            <a:cxnLst/>
            <a:rect l="l" t="t" r="r" b="b"/>
            <a:pathLst>
              <a:path w="12839304" h="330688">
                <a:moveTo>
                  <a:pt x="0" y="0"/>
                </a:moveTo>
                <a:lnTo>
                  <a:pt x="12839304" y="0"/>
                </a:lnTo>
                <a:lnTo>
                  <a:pt x="12839304" y="330688"/>
                </a:lnTo>
                <a:lnTo>
                  <a:pt x="0" y="330688"/>
                </a:lnTo>
                <a:lnTo>
                  <a:pt x="0" y="0"/>
                </a:lnTo>
                <a:close/>
              </a:path>
            </a:pathLst>
          </a:custGeom>
          <a:blipFill>
            <a:blip r:embed="rId4">
              <a:alphaModFix amt="62000"/>
            </a:blip>
            <a:stretch>
              <a:fillRect/>
            </a:stretch>
          </a:blipFill>
        </p:spPr>
      </p:sp>
      <p:sp>
        <p:nvSpPr>
          <p:cNvPr id="6" name="TextBox 6"/>
          <p:cNvSpPr txBox="1"/>
          <p:nvPr/>
        </p:nvSpPr>
        <p:spPr>
          <a:xfrm>
            <a:off x="631948" y="8439150"/>
            <a:ext cx="8681027" cy="723900"/>
          </a:xfrm>
          <a:prstGeom prst="rect">
            <a:avLst/>
          </a:prstGeom>
        </p:spPr>
        <p:txBody>
          <a:bodyPr lIns="0" tIns="0" rIns="0" bIns="0" rtlCol="0" anchor="t">
            <a:spAutoFit/>
          </a:bodyPr>
          <a:lstStyle/>
          <a:p>
            <a:pPr algn="l">
              <a:lnSpc>
                <a:spcPts val="2879"/>
              </a:lnSpc>
            </a:pPr>
            <a:r>
              <a:rPr lang="en-US" sz="2400" b="1">
                <a:solidFill>
                  <a:srgbClr val="003C64"/>
                </a:solidFill>
                <a:latin typeface="Source Serif Pro Bold"/>
                <a:ea typeface="Source Serif Pro Bold"/>
                <a:cs typeface="Source Serif Pro Bold"/>
                <a:sym typeface="Source Serif Pro Bold"/>
              </a:rPr>
              <a:t>We aim to leverage machine learning to automate and improve the accuracy of cost prediction.</a:t>
            </a:r>
          </a:p>
        </p:txBody>
      </p:sp>
      <p:sp>
        <p:nvSpPr>
          <p:cNvPr id="7" name="TextBox 7"/>
          <p:cNvSpPr txBox="1"/>
          <p:nvPr/>
        </p:nvSpPr>
        <p:spPr>
          <a:xfrm>
            <a:off x="631948" y="2852283"/>
            <a:ext cx="15926824" cy="2920365"/>
          </a:xfrm>
          <a:prstGeom prst="rect">
            <a:avLst/>
          </a:prstGeom>
        </p:spPr>
        <p:txBody>
          <a:bodyPr lIns="0" tIns="0" rIns="0" bIns="0" rtlCol="0" anchor="t">
            <a:spAutoFit/>
          </a:bodyPr>
          <a:lstStyle/>
          <a:p>
            <a:pPr algn="just">
              <a:lnSpc>
                <a:spcPts val="3359"/>
              </a:lnSpc>
            </a:pPr>
            <a:r>
              <a:rPr lang="en-US" sz="2400" b="1">
                <a:solidFill>
                  <a:srgbClr val="003C64"/>
                </a:solidFill>
                <a:latin typeface="Source Serif Pro Bold"/>
                <a:ea typeface="Source Serif Pro Bold"/>
                <a:cs typeface="Source Serif Pro Bold"/>
                <a:sym typeface="Source Serif Pro Bold"/>
              </a:rPr>
              <a:t>Medical insurance costs vary from person to person depending on factors such as age, gender, BMI, number of children, smoking status, and residential region. Predicting these costs manually can be difficult because multiple factors influence the final insurance charge.</a:t>
            </a:r>
          </a:p>
          <a:p>
            <a:pPr algn="just">
              <a:lnSpc>
                <a:spcPts val="3359"/>
              </a:lnSpc>
            </a:pPr>
            <a:endParaRPr lang="en-US" sz="2400" b="1">
              <a:solidFill>
                <a:srgbClr val="003C64"/>
              </a:solidFill>
              <a:latin typeface="Source Serif Pro Bold"/>
              <a:ea typeface="Source Serif Pro Bold"/>
              <a:cs typeface="Source Serif Pro Bold"/>
              <a:sym typeface="Source Serif Pro Bold"/>
            </a:endParaRPr>
          </a:p>
          <a:p>
            <a:pPr algn="just">
              <a:lnSpc>
                <a:spcPts val="3359"/>
              </a:lnSpc>
            </a:pPr>
            <a:r>
              <a:rPr lang="en-US" sz="2400" b="1">
                <a:solidFill>
                  <a:srgbClr val="003C64"/>
                </a:solidFill>
                <a:latin typeface="Source Serif Pro Bold"/>
                <a:ea typeface="Source Serif Pro Bold"/>
                <a:cs typeface="Source Serif Pro Bold"/>
                <a:sym typeface="Source Serif Pro Bold"/>
              </a:rPr>
              <a:t>The project aims to develop a Machine Learning-based system that predicts an individual's medical insurance cost using historical insurance data and relevant demographic, lifestyle, and health-related features.</a:t>
            </a:r>
          </a:p>
          <a:p>
            <a:pPr algn="just">
              <a:lnSpc>
                <a:spcPts val="3359"/>
              </a:lnSpc>
              <a:spcBef>
                <a:spcPct val="0"/>
              </a:spcBef>
            </a:pPr>
            <a:endParaRPr lang="en-US" sz="2400" b="1">
              <a:solidFill>
                <a:srgbClr val="003C64"/>
              </a:solidFill>
              <a:latin typeface="Source Serif Pro Bold"/>
              <a:ea typeface="Source Serif Pro Bold"/>
              <a:cs typeface="Source Serif Pro Bold"/>
              <a:sym typeface="Source Serif Pro Bold"/>
            </a:endParaRPr>
          </a:p>
        </p:txBody>
      </p:sp>
      <p:sp>
        <p:nvSpPr>
          <p:cNvPr id="8" name="TextBox 8"/>
          <p:cNvSpPr txBox="1"/>
          <p:nvPr/>
        </p:nvSpPr>
        <p:spPr>
          <a:xfrm>
            <a:off x="631948" y="5725023"/>
            <a:ext cx="15402074" cy="2141577"/>
          </a:xfrm>
          <a:prstGeom prst="rect">
            <a:avLst/>
          </a:prstGeom>
        </p:spPr>
        <p:txBody>
          <a:bodyPr lIns="0" tIns="0" rIns="0" bIns="0" rtlCol="0" anchor="t">
            <a:spAutoFit/>
          </a:bodyPr>
          <a:lstStyle/>
          <a:p>
            <a:pPr algn="l">
              <a:lnSpc>
                <a:spcPts val="3458"/>
              </a:lnSpc>
              <a:spcBef>
                <a:spcPct val="0"/>
              </a:spcBef>
            </a:pPr>
            <a:r>
              <a:rPr lang="en-US" sz="2470" b="1" dirty="0">
                <a:solidFill>
                  <a:srgbClr val="003C64"/>
                </a:solidFill>
                <a:latin typeface="Source Serif Pro Bold"/>
                <a:ea typeface="Source Serif Pro Bold"/>
                <a:cs typeface="Source Serif Pro Bold"/>
                <a:sym typeface="Source Serif Pro Bold"/>
              </a:rPr>
              <a:t>Real-World Relevance:</a:t>
            </a:r>
          </a:p>
          <a:p>
            <a:pPr marL="533291" lvl="1" indent="-266646" algn="l">
              <a:lnSpc>
                <a:spcPts val="3458"/>
              </a:lnSpc>
              <a:buFont typeface="Arial"/>
              <a:buChar char="•"/>
            </a:pPr>
            <a:r>
              <a:rPr lang="en-US" sz="2470" b="1" dirty="0">
                <a:solidFill>
                  <a:srgbClr val="003C64"/>
                </a:solidFill>
                <a:latin typeface="Source Serif Pro Bold"/>
                <a:ea typeface="Source Serif Pro Bold"/>
                <a:cs typeface="Source Serif Pro Bold"/>
                <a:sym typeface="Source Serif Pro Bold"/>
              </a:rPr>
              <a:t>Medical insurance expenses can differ significantly between individuals.</a:t>
            </a:r>
          </a:p>
          <a:p>
            <a:pPr marL="533291" lvl="1" indent="-266646" algn="l">
              <a:lnSpc>
                <a:spcPts val="3458"/>
              </a:lnSpc>
              <a:buFont typeface="Arial"/>
              <a:buChar char="•"/>
            </a:pPr>
            <a:r>
              <a:rPr lang="en-US" sz="2470" b="1" dirty="0">
                <a:solidFill>
                  <a:srgbClr val="003C64"/>
                </a:solidFill>
                <a:latin typeface="Source Serif Pro Bold"/>
                <a:ea typeface="Source Serif Pro Bold"/>
                <a:cs typeface="Source Serif Pro Bold"/>
                <a:sym typeface="Source Serif Pro Bold"/>
              </a:rPr>
              <a:t>Insurance providers need to understand the factors that influence insurance charges.</a:t>
            </a:r>
          </a:p>
          <a:p>
            <a:pPr marL="533291" lvl="1" indent="-266646" algn="l">
              <a:lnSpc>
                <a:spcPts val="3458"/>
              </a:lnSpc>
              <a:buFont typeface="Arial"/>
              <a:buChar char="•"/>
            </a:pPr>
            <a:r>
              <a:rPr lang="en-US" sz="2470" b="1" dirty="0">
                <a:solidFill>
                  <a:srgbClr val="003C64"/>
                </a:solidFill>
                <a:latin typeface="Source Serif Pro Bold"/>
                <a:ea typeface="Source Serif Pro Bold"/>
                <a:cs typeface="Source Serif Pro Bold"/>
                <a:sym typeface="Source Serif Pro Bold"/>
              </a:rPr>
              <a:t>Cost prediction can help in estimating expected medical insurance expenses.</a:t>
            </a:r>
          </a:p>
          <a:p>
            <a:pPr marL="533291" lvl="1" indent="-266646" algn="l">
              <a:lnSpc>
                <a:spcPts val="3458"/>
              </a:lnSpc>
              <a:buFont typeface="Arial"/>
              <a:buChar char="•"/>
            </a:pPr>
            <a:r>
              <a:rPr lang="en-US" sz="2470" b="1" dirty="0">
                <a:solidFill>
                  <a:srgbClr val="003C64"/>
                </a:solidFill>
                <a:latin typeface="Source Serif Pro Bold"/>
                <a:ea typeface="Source Serif Pro Bold"/>
                <a:cs typeface="Source Serif Pro Bold"/>
                <a:sym typeface="Source Serif Pro Bold"/>
              </a:rPr>
              <a:t>Data analysis can provide insights into which factors have a stronger relationship with insurance costs.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21792" y="720125"/>
            <a:ext cx="10544585" cy="1189793"/>
          </a:xfrm>
          <a:prstGeom prst="rect">
            <a:avLst/>
          </a:prstGeom>
        </p:spPr>
        <p:txBody>
          <a:bodyPr lIns="0" tIns="0" rIns="0" bIns="0" rtlCol="0" anchor="t">
            <a:spAutoFit/>
          </a:bodyPr>
          <a:lstStyle/>
          <a:p>
            <a:pPr algn="l">
              <a:lnSpc>
                <a:spcPts val="8967"/>
              </a:lnSpc>
            </a:pPr>
            <a:r>
              <a:rPr lang="en-US" sz="8967" b="1" spc="-179">
                <a:solidFill>
                  <a:srgbClr val="003049"/>
                </a:solidFill>
                <a:latin typeface="Source Serif Pro Bold"/>
                <a:ea typeface="Source Serif Pro Bold"/>
                <a:cs typeface="Source Serif Pro Bold"/>
                <a:sym typeface="Source Serif Pro Bold"/>
              </a:rPr>
              <a:t>Objectives</a:t>
            </a:r>
          </a:p>
        </p:txBody>
      </p:sp>
      <p:sp>
        <p:nvSpPr>
          <p:cNvPr id="4" name="Freeform 4"/>
          <p:cNvSpPr/>
          <p:nvPr/>
        </p:nvSpPr>
        <p:spPr>
          <a:xfrm>
            <a:off x="428625" y="1862866"/>
            <a:ext cx="12173242" cy="305994"/>
          </a:xfrm>
          <a:custGeom>
            <a:avLst/>
            <a:gdLst/>
            <a:ahLst/>
            <a:cxnLst/>
            <a:rect l="l" t="t" r="r" b="b"/>
            <a:pathLst>
              <a:path w="12173242" h="305994">
                <a:moveTo>
                  <a:pt x="0" y="0"/>
                </a:moveTo>
                <a:lnTo>
                  <a:pt x="12173242" y="0"/>
                </a:lnTo>
                <a:lnTo>
                  <a:pt x="12173242" y="305994"/>
                </a:lnTo>
                <a:lnTo>
                  <a:pt x="0" y="305994"/>
                </a:lnTo>
                <a:lnTo>
                  <a:pt x="0" y="0"/>
                </a:lnTo>
                <a:close/>
              </a:path>
            </a:pathLst>
          </a:custGeom>
          <a:blipFill>
            <a:blip r:embed="rId3">
              <a:alphaModFix amt="58000"/>
            </a:blip>
            <a:stretch>
              <a:fillRect/>
            </a:stretch>
          </a:blipFill>
        </p:spPr>
      </p:sp>
      <p:sp>
        <p:nvSpPr>
          <p:cNvPr id="5" name="Freeform 5"/>
          <p:cNvSpPr/>
          <p:nvPr/>
        </p:nvSpPr>
        <p:spPr>
          <a:xfrm>
            <a:off x="428625" y="2306157"/>
            <a:ext cx="12826357" cy="1046643"/>
          </a:xfrm>
          <a:custGeom>
            <a:avLst/>
            <a:gdLst/>
            <a:ahLst/>
            <a:cxnLst/>
            <a:rect l="l" t="t" r="r" b="b"/>
            <a:pathLst>
              <a:path w="12826357" h="1046643">
                <a:moveTo>
                  <a:pt x="0" y="0"/>
                </a:moveTo>
                <a:lnTo>
                  <a:pt x="12826357" y="0"/>
                </a:lnTo>
                <a:lnTo>
                  <a:pt x="12826357" y="1046643"/>
                </a:lnTo>
                <a:lnTo>
                  <a:pt x="0" y="1046643"/>
                </a:lnTo>
                <a:lnTo>
                  <a:pt x="0" y="0"/>
                </a:lnTo>
                <a:close/>
              </a:path>
            </a:pathLst>
          </a:custGeom>
          <a:blipFill>
            <a:blip r:embed="rId4"/>
            <a:stretch>
              <a:fillRect t="-38293" b="-102784"/>
            </a:stretch>
          </a:blipFill>
        </p:spPr>
      </p:sp>
      <p:sp>
        <p:nvSpPr>
          <p:cNvPr id="6" name="TextBox 6"/>
          <p:cNvSpPr txBox="1"/>
          <p:nvPr/>
        </p:nvSpPr>
        <p:spPr>
          <a:xfrm>
            <a:off x="969264" y="2458539"/>
            <a:ext cx="9087212" cy="465653"/>
          </a:xfrm>
          <a:prstGeom prst="rect">
            <a:avLst/>
          </a:prstGeom>
        </p:spPr>
        <p:txBody>
          <a:bodyPr lIns="0" tIns="0" rIns="0" bIns="0" rtlCol="0" anchor="t">
            <a:spAutoFit/>
          </a:bodyPr>
          <a:lstStyle/>
          <a:p>
            <a:pPr algn="l">
              <a:lnSpc>
                <a:spcPts val="3734"/>
              </a:lnSpc>
            </a:pPr>
            <a:r>
              <a:rPr lang="en-US" sz="2667" b="1" spc="53">
                <a:solidFill>
                  <a:srgbClr val="003049"/>
                </a:solidFill>
                <a:latin typeface="Roboto Bold"/>
                <a:ea typeface="Roboto Bold"/>
                <a:cs typeface="Roboto Bold"/>
                <a:sym typeface="Roboto Bold"/>
              </a:rPr>
              <a:t>Collect and analyze historical medical insurance data.</a:t>
            </a:r>
          </a:p>
        </p:txBody>
      </p:sp>
      <p:sp>
        <p:nvSpPr>
          <p:cNvPr id="7" name="Freeform 7"/>
          <p:cNvSpPr/>
          <p:nvPr/>
        </p:nvSpPr>
        <p:spPr>
          <a:xfrm>
            <a:off x="428625" y="3529021"/>
            <a:ext cx="12645371" cy="1009650"/>
          </a:xfrm>
          <a:custGeom>
            <a:avLst/>
            <a:gdLst/>
            <a:ahLst/>
            <a:cxnLst/>
            <a:rect l="l" t="t" r="r" b="b"/>
            <a:pathLst>
              <a:path w="12645371" h="1009650">
                <a:moveTo>
                  <a:pt x="0" y="0"/>
                </a:moveTo>
                <a:lnTo>
                  <a:pt x="12645371" y="0"/>
                </a:lnTo>
                <a:lnTo>
                  <a:pt x="12645371" y="1009650"/>
                </a:lnTo>
                <a:lnTo>
                  <a:pt x="0" y="1009650"/>
                </a:lnTo>
                <a:lnTo>
                  <a:pt x="0" y="0"/>
                </a:lnTo>
                <a:close/>
              </a:path>
            </a:pathLst>
          </a:custGeom>
          <a:blipFill>
            <a:blip r:embed="rId5"/>
            <a:stretch>
              <a:fillRect t="-39691" r="-7565" b="-92940"/>
            </a:stretch>
          </a:blipFill>
        </p:spPr>
      </p:sp>
      <p:sp>
        <p:nvSpPr>
          <p:cNvPr id="8" name="TextBox 8"/>
          <p:cNvSpPr txBox="1"/>
          <p:nvPr/>
        </p:nvSpPr>
        <p:spPr>
          <a:xfrm>
            <a:off x="939967" y="3606293"/>
            <a:ext cx="11433731" cy="932378"/>
          </a:xfrm>
          <a:prstGeom prst="rect">
            <a:avLst/>
          </a:prstGeom>
        </p:spPr>
        <p:txBody>
          <a:bodyPr lIns="0" tIns="0" rIns="0" bIns="0" rtlCol="0" anchor="t">
            <a:spAutoFit/>
          </a:bodyPr>
          <a:lstStyle/>
          <a:p>
            <a:pPr algn="l">
              <a:lnSpc>
                <a:spcPts val="3734"/>
              </a:lnSpc>
            </a:pPr>
            <a:r>
              <a:rPr lang="en-US" sz="2667" b="1" spc="53">
                <a:solidFill>
                  <a:srgbClr val="003049"/>
                </a:solidFill>
                <a:latin typeface="Roboto Bold"/>
                <a:ea typeface="Roboto Bold"/>
                <a:cs typeface="Roboto Bold"/>
                <a:sym typeface="Roboto Bold"/>
              </a:rPr>
              <a:t>Preprocess the dataset by handling missing values, duplicate records, and inconsistent data.</a:t>
            </a:r>
          </a:p>
        </p:txBody>
      </p:sp>
      <p:sp>
        <p:nvSpPr>
          <p:cNvPr id="9" name="Freeform 9"/>
          <p:cNvSpPr/>
          <p:nvPr/>
        </p:nvSpPr>
        <p:spPr>
          <a:xfrm>
            <a:off x="428625" y="4719646"/>
            <a:ext cx="12645371" cy="1152525"/>
          </a:xfrm>
          <a:custGeom>
            <a:avLst/>
            <a:gdLst/>
            <a:ahLst/>
            <a:cxnLst/>
            <a:rect l="l" t="t" r="r" b="b"/>
            <a:pathLst>
              <a:path w="12645371" h="1152525">
                <a:moveTo>
                  <a:pt x="0" y="0"/>
                </a:moveTo>
                <a:lnTo>
                  <a:pt x="12645371" y="0"/>
                </a:lnTo>
                <a:lnTo>
                  <a:pt x="12645371" y="1152525"/>
                </a:lnTo>
                <a:lnTo>
                  <a:pt x="0" y="1152525"/>
                </a:lnTo>
                <a:lnTo>
                  <a:pt x="0" y="0"/>
                </a:lnTo>
                <a:close/>
              </a:path>
            </a:pathLst>
          </a:custGeom>
          <a:blipFill>
            <a:blip r:embed="rId5"/>
            <a:stretch>
              <a:fillRect t="-34770" r="-7565" b="-69021"/>
            </a:stretch>
          </a:blipFill>
        </p:spPr>
      </p:sp>
      <p:sp>
        <p:nvSpPr>
          <p:cNvPr id="10" name="TextBox 10"/>
          <p:cNvSpPr txBox="1"/>
          <p:nvPr/>
        </p:nvSpPr>
        <p:spPr>
          <a:xfrm>
            <a:off x="1028700" y="4872046"/>
            <a:ext cx="10209733" cy="932307"/>
          </a:xfrm>
          <a:prstGeom prst="rect">
            <a:avLst/>
          </a:prstGeom>
        </p:spPr>
        <p:txBody>
          <a:bodyPr lIns="0" tIns="0" rIns="0" bIns="0" rtlCol="0" anchor="t">
            <a:spAutoFit/>
          </a:bodyPr>
          <a:lstStyle/>
          <a:p>
            <a:pPr algn="l">
              <a:lnSpc>
                <a:spcPts val="3738"/>
              </a:lnSpc>
              <a:spcBef>
                <a:spcPct val="0"/>
              </a:spcBef>
            </a:pPr>
            <a:r>
              <a:rPr lang="en-US" sz="2670" b="1">
                <a:solidFill>
                  <a:srgbClr val="003049"/>
                </a:solidFill>
                <a:latin typeface="Roboto Bold"/>
                <a:ea typeface="Roboto Bold"/>
                <a:cs typeface="Roboto Bold"/>
                <a:sym typeface="Roboto Bold"/>
              </a:rPr>
              <a:t>Perform Exploratory Data Analysis (EDA) to identify relationships between different factors and insurance charges.</a:t>
            </a:r>
          </a:p>
        </p:txBody>
      </p:sp>
      <p:sp>
        <p:nvSpPr>
          <p:cNvPr id="11" name="Freeform 11"/>
          <p:cNvSpPr/>
          <p:nvPr/>
        </p:nvSpPr>
        <p:spPr>
          <a:xfrm>
            <a:off x="428625" y="6053146"/>
            <a:ext cx="12645371" cy="1152525"/>
          </a:xfrm>
          <a:custGeom>
            <a:avLst/>
            <a:gdLst/>
            <a:ahLst/>
            <a:cxnLst/>
            <a:rect l="l" t="t" r="r" b="b"/>
            <a:pathLst>
              <a:path w="12645371" h="1152525">
                <a:moveTo>
                  <a:pt x="0" y="0"/>
                </a:moveTo>
                <a:lnTo>
                  <a:pt x="12645371" y="0"/>
                </a:lnTo>
                <a:lnTo>
                  <a:pt x="12645371" y="1152525"/>
                </a:lnTo>
                <a:lnTo>
                  <a:pt x="0" y="1152525"/>
                </a:lnTo>
                <a:lnTo>
                  <a:pt x="0" y="0"/>
                </a:lnTo>
                <a:close/>
              </a:path>
            </a:pathLst>
          </a:custGeom>
          <a:blipFill>
            <a:blip r:embed="rId5"/>
            <a:stretch>
              <a:fillRect t="-34770" r="-7565" b="-69021"/>
            </a:stretch>
          </a:blipFill>
        </p:spPr>
      </p:sp>
      <p:sp>
        <p:nvSpPr>
          <p:cNvPr id="12" name="Freeform 12"/>
          <p:cNvSpPr/>
          <p:nvPr/>
        </p:nvSpPr>
        <p:spPr>
          <a:xfrm>
            <a:off x="428625" y="7339021"/>
            <a:ext cx="12645371" cy="1152525"/>
          </a:xfrm>
          <a:custGeom>
            <a:avLst/>
            <a:gdLst/>
            <a:ahLst/>
            <a:cxnLst/>
            <a:rect l="l" t="t" r="r" b="b"/>
            <a:pathLst>
              <a:path w="12645371" h="1152525">
                <a:moveTo>
                  <a:pt x="0" y="0"/>
                </a:moveTo>
                <a:lnTo>
                  <a:pt x="12645371" y="0"/>
                </a:lnTo>
                <a:lnTo>
                  <a:pt x="12645371" y="1152525"/>
                </a:lnTo>
                <a:lnTo>
                  <a:pt x="0" y="1152525"/>
                </a:lnTo>
                <a:lnTo>
                  <a:pt x="0" y="0"/>
                </a:lnTo>
                <a:close/>
              </a:path>
            </a:pathLst>
          </a:custGeom>
          <a:blipFill>
            <a:blip r:embed="rId5"/>
            <a:stretch>
              <a:fillRect t="-34770" r="-7565" b="-69021"/>
            </a:stretch>
          </a:blipFill>
        </p:spPr>
      </p:sp>
      <p:sp>
        <p:nvSpPr>
          <p:cNvPr id="13" name="TextBox 13"/>
          <p:cNvSpPr txBox="1"/>
          <p:nvPr/>
        </p:nvSpPr>
        <p:spPr>
          <a:xfrm>
            <a:off x="1028700" y="6129346"/>
            <a:ext cx="6986016" cy="932378"/>
          </a:xfrm>
          <a:prstGeom prst="rect">
            <a:avLst/>
          </a:prstGeom>
        </p:spPr>
        <p:txBody>
          <a:bodyPr lIns="0" tIns="0" rIns="0" bIns="0" rtlCol="0" anchor="t">
            <a:spAutoFit/>
          </a:bodyPr>
          <a:lstStyle/>
          <a:p>
            <a:pPr algn="l">
              <a:lnSpc>
                <a:spcPts val="3734"/>
              </a:lnSpc>
            </a:pPr>
            <a:r>
              <a:rPr lang="en-US" sz="2667" b="1" spc="53">
                <a:solidFill>
                  <a:srgbClr val="003049"/>
                </a:solidFill>
                <a:latin typeface="Roboto Bold"/>
                <a:ea typeface="Roboto Bold"/>
                <a:cs typeface="Roboto Bold"/>
                <a:sym typeface="Roboto Bold"/>
              </a:rPr>
              <a:t>Train and compare regression models (Linear, Decision Tree, Random Forest, etc.)</a:t>
            </a:r>
          </a:p>
        </p:txBody>
      </p:sp>
      <p:sp>
        <p:nvSpPr>
          <p:cNvPr id="14" name="TextBox 14"/>
          <p:cNvSpPr txBox="1"/>
          <p:nvPr/>
        </p:nvSpPr>
        <p:spPr>
          <a:xfrm>
            <a:off x="906087" y="7386646"/>
            <a:ext cx="11218318" cy="1399032"/>
          </a:xfrm>
          <a:prstGeom prst="rect">
            <a:avLst/>
          </a:prstGeom>
        </p:spPr>
        <p:txBody>
          <a:bodyPr lIns="0" tIns="0" rIns="0" bIns="0" rtlCol="0" anchor="t">
            <a:spAutoFit/>
          </a:bodyPr>
          <a:lstStyle/>
          <a:p>
            <a:pPr algn="just">
              <a:lnSpc>
                <a:spcPts val="3738"/>
              </a:lnSpc>
            </a:pPr>
            <a:r>
              <a:rPr lang="en-US" sz="2670" b="1">
                <a:solidFill>
                  <a:srgbClr val="003049"/>
                </a:solidFill>
                <a:latin typeface="Roboto Bold"/>
                <a:ea typeface="Roboto Bold"/>
                <a:cs typeface="Roboto Bold"/>
                <a:sym typeface="Roboto Bold"/>
              </a:rPr>
              <a:t>Evaluate the models using:</a:t>
            </a:r>
          </a:p>
          <a:p>
            <a:pPr algn="just">
              <a:lnSpc>
                <a:spcPts val="3738"/>
              </a:lnSpc>
            </a:pPr>
            <a:r>
              <a:rPr lang="en-US" sz="2670" b="1">
                <a:solidFill>
                  <a:srgbClr val="003049"/>
                </a:solidFill>
                <a:latin typeface="Roboto Bold"/>
                <a:ea typeface="Roboto Bold"/>
                <a:cs typeface="Roboto Bold"/>
                <a:sym typeface="Roboto Bold"/>
              </a:rPr>
              <a:t>(MAE (Mean Absolute Error), RMSE (Root Mean Square Error), R² Score)</a:t>
            </a:r>
          </a:p>
          <a:p>
            <a:pPr algn="just">
              <a:lnSpc>
                <a:spcPts val="3738"/>
              </a:lnSpc>
              <a:spcBef>
                <a:spcPct val="0"/>
              </a:spcBef>
            </a:pPr>
            <a:endParaRPr lang="en-US" sz="2670" b="1">
              <a:solidFill>
                <a:srgbClr val="003049"/>
              </a:solidFill>
              <a:latin typeface="Roboto Bold"/>
              <a:ea typeface="Roboto Bold"/>
              <a:cs typeface="Roboto Bold"/>
              <a:sym typeface="Roboto Bold"/>
            </a:endParaRPr>
          </a:p>
        </p:txBody>
      </p:sp>
      <p:sp>
        <p:nvSpPr>
          <p:cNvPr id="15" name="Freeform 15"/>
          <p:cNvSpPr/>
          <p:nvPr/>
        </p:nvSpPr>
        <p:spPr>
          <a:xfrm>
            <a:off x="428625" y="8672521"/>
            <a:ext cx="12645371" cy="1152525"/>
          </a:xfrm>
          <a:custGeom>
            <a:avLst/>
            <a:gdLst/>
            <a:ahLst/>
            <a:cxnLst/>
            <a:rect l="l" t="t" r="r" b="b"/>
            <a:pathLst>
              <a:path w="12645371" h="1152525">
                <a:moveTo>
                  <a:pt x="0" y="0"/>
                </a:moveTo>
                <a:lnTo>
                  <a:pt x="12645371" y="0"/>
                </a:lnTo>
                <a:lnTo>
                  <a:pt x="12645371" y="1152525"/>
                </a:lnTo>
                <a:lnTo>
                  <a:pt x="0" y="1152525"/>
                </a:lnTo>
                <a:lnTo>
                  <a:pt x="0" y="0"/>
                </a:lnTo>
                <a:close/>
              </a:path>
            </a:pathLst>
          </a:custGeom>
          <a:blipFill>
            <a:blip r:embed="rId5"/>
            <a:stretch>
              <a:fillRect t="-34770" r="-7565" b="-69021"/>
            </a:stretch>
          </a:blipFill>
        </p:spPr>
      </p:sp>
      <p:sp>
        <p:nvSpPr>
          <p:cNvPr id="16" name="TextBox 16"/>
          <p:cNvSpPr txBox="1"/>
          <p:nvPr/>
        </p:nvSpPr>
        <p:spPr>
          <a:xfrm>
            <a:off x="906087" y="8758809"/>
            <a:ext cx="11688727" cy="932307"/>
          </a:xfrm>
          <a:prstGeom prst="rect">
            <a:avLst/>
          </a:prstGeom>
        </p:spPr>
        <p:txBody>
          <a:bodyPr lIns="0" tIns="0" rIns="0" bIns="0" rtlCol="0" anchor="t">
            <a:spAutoFit/>
          </a:bodyPr>
          <a:lstStyle/>
          <a:p>
            <a:pPr algn="l">
              <a:lnSpc>
                <a:spcPts val="3738"/>
              </a:lnSpc>
              <a:spcBef>
                <a:spcPct val="0"/>
              </a:spcBef>
            </a:pPr>
            <a:r>
              <a:rPr lang="en-US" sz="2670" b="1">
                <a:solidFill>
                  <a:srgbClr val="003049"/>
                </a:solidFill>
                <a:latin typeface="Roboto Bold"/>
                <a:ea typeface="Roboto Bold"/>
                <a:cs typeface="Roboto Bold"/>
                <a:sym typeface="Roboto Bold"/>
              </a:rPr>
              <a:t>Use the selected model to predict insurance costs for new individuals based on their input information.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493776" y="2715574"/>
            <a:ext cx="2990088" cy="465653"/>
          </a:xfrm>
          <a:prstGeom prst="rect">
            <a:avLst/>
          </a:prstGeom>
        </p:spPr>
        <p:txBody>
          <a:bodyPr lIns="0" tIns="0" rIns="0" bIns="0" rtlCol="0" anchor="t">
            <a:spAutoFit/>
          </a:bodyPr>
          <a:lstStyle/>
          <a:p>
            <a:pPr algn="ctr">
              <a:lnSpc>
                <a:spcPts val="3734"/>
              </a:lnSpc>
              <a:spcBef>
                <a:spcPct val="0"/>
              </a:spcBef>
            </a:pPr>
            <a:endParaRPr/>
          </a:p>
        </p:txBody>
      </p:sp>
      <p:graphicFrame>
        <p:nvGraphicFramePr>
          <p:cNvPr id="14" name="Table 13"/>
          <p:cNvGraphicFramePr>
            <a:graphicFrameLocks noGrp="1"/>
          </p:cNvGraphicFramePr>
          <p:nvPr>
            <p:extLst>
              <p:ext uri="{D42A27DB-BD31-4B8C-83A1-F6EECF244321}">
                <p14:modId xmlns:p14="http://schemas.microsoft.com/office/powerpoint/2010/main" val="3434576922"/>
              </p:ext>
            </p:extLst>
          </p:nvPr>
        </p:nvGraphicFramePr>
        <p:xfrm>
          <a:off x="304800" y="1319866"/>
          <a:ext cx="17526000" cy="10352078"/>
        </p:xfrm>
        <a:graphic>
          <a:graphicData uri="http://schemas.openxmlformats.org/drawingml/2006/table">
            <a:tbl>
              <a:tblPr/>
              <a:tblGrid>
                <a:gridCol w="3505200">
                  <a:extLst>
                    <a:ext uri="{9D8B030D-6E8A-4147-A177-3AD203B41FA5}">
                      <a16:colId xmlns:a16="http://schemas.microsoft.com/office/drawing/2014/main" val="2101447891"/>
                    </a:ext>
                  </a:extLst>
                </a:gridCol>
                <a:gridCol w="3505200">
                  <a:extLst>
                    <a:ext uri="{9D8B030D-6E8A-4147-A177-3AD203B41FA5}">
                      <a16:colId xmlns:a16="http://schemas.microsoft.com/office/drawing/2014/main" val="2427948371"/>
                    </a:ext>
                  </a:extLst>
                </a:gridCol>
                <a:gridCol w="3505200">
                  <a:extLst>
                    <a:ext uri="{9D8B030D-6E8A-4147-A177-3AD203B41FA5}">
                      <a16:colId xmlns:a16="http://schemas.microsoft.com/office/drawing/2014/main" val="1747080792"/>
                    </a:ext>
                  </a:extLst>
                </a:gridCol>
                <a:gridCol w="3505200">
                  <a:extLst>
                    <a:ext uri="{9D8B030D-6E8A-4147-A177-3AD203B41FA5}">
                      <a16:colId xmlns:a16="http://schemas.microsoft.com/office/drawing/2014/main" val="3472743112"/>
                    </a:ext>
                  </a:extLst>
                </a:gridCol>
                <a:gridCol w="3505200">
                  <a:extLst>
                    <a:ext uri="{9D8B030D-6E8A-4147-A177-3AD203B41FA5}">
                      <a16:colId xmlns:a16="http://schemas.microsoft.com/office/drawing/2014/main" val="2078275816"/>
                    </a:ext>
                  </a:extLst>
                </a:gridCol>
              </a:tblGrid>
              <a:tr h="308310">
                <a:tc>
                  <a:txBody>
                    <a:bodyPr/>
                    <a:lstStyle/>
                    <a:p>
                      <a:r>
                        <a:rPr lang="en-US" sz="2000" dirty="0">
                          <a:solidFill>
                            <a:schemeClr val="accent1"/>
                          </a:solidFill>
                        </a:rPr>
                        <a:t>Authors</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solidFill>
                            <a:schemeClr val="accent1"/>
                          </a:solidFill>
                        </a:rPr>
                        <a:t>Title of the Paper</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solidFill>
                            <a:schemeClr val="accent1"/>
                          </a:solidFill>
                        </a:rPr>
                        <a:t>Methodology</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chemeClr val="accent1"/>
                          </a:solidFill>
                        </a:rPr>
                        <a:t>Limitation/Future Work</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solidFill>
                            <a:schemeClr val="accent1"/>
                          </a:solidFill>
                        </a:rPr>
                        <a:t>Links</a:t>
                      </a:r>
                      <a:endParaRPr lang="en-US" sz="2000" dirty="0">
                        <a:solidFill>
                          <a:schemeClr val="accent1"/>
                        </a:solidFill>
                      </a:endParaRP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361500"/>
                  </a:ext>
                </a:extLst>
              </a:tr>
              <a:tr h="2014024">
                <a:tc>
                  <a:txBody>
                    <a:bodyPr/>
                    <a:lstStyle/>
                    <a:p>
                      <a:r>
                        <a:rPr lang="en-US" sz="2000" dirty="0"/>
                        <a:t>U. Hassan et al.</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A Computational Intelligence Approach for Predicting Medical Insurance Cost</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Applied Linear Regression, SVR, Ridge, </a:t>
                      </a:r>
                      <a:r>
                        <a:rPr lang="en-US" sz="2000" dirty="0" err="1"/>
                        <a:t>XGBoost</a:t>
                      </a:r>
                      <a:r>
                        <a:rPr lang="en-US" sz="2000" dirty="0"/>
                        <a:t>, Decision Tree, Random Forest, KNN and other regression models. • Compared models using RMSE, R² and cross-validation.</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Study compares many ML models, but more advanced </a:t>
                      </a:r>
                      <a:r>
                        <a:rPr lang="en-US" sz="2000" dirty="0" err="1"/>
                        <a:t>explainability</a:t>
                      </a:r>
                      <a:r>
                        <a:rPr lang="en-US" sz="2000" dirty="0"/>
                        <a:t> and real-world deployment can be explored. • Larger and more diverse datasets can improve generalization.</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hlinkClick r:id="rId2" action="ppaction://hlinkpres?slideindex=1&amp;slidetitle="/>
                        </a:rPr>
                        <a:t>https://onlinelibrary.wiley.com/doi/full/10.1155/2021/1162553</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933637"/>
                  </a:ext>
                </a:extLst>
              </a:tr>
              <a:tr h="2014024">
                <a:tc>
                  <a:txBody>
                    <a:bodyPr/>
                    <a:lstStyle/>
                    <a:p>
                      <a:r>
                        <a:rPr lang="en-US" sz="2000" dirty="0" err="1"/>
                        <a:t>Yaowen</a:t>
                      </a:r>
                      <a:r>
                        <a:rPr lang="en-US" sz="2000" dirty="0"/>
                        <a:t> Hu</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Comparison and Analysis of the Effectiveness of Linear Regression, Decision Tree, and Random Forest Models for Health Insurance Premium Forecasting</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Compared Linear Regression, Decision Tree Regression and Random Forest Regression. • Evaluated the prediction performance of the three models.</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 The study focuses on three regression models. • Future work can investigate additional ML algorithms and larger datasets.</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hlinkClick r:id="rId2" action="ppaction://hlinkpres?slideindex=1&amp;slidetitle="/>
                        </a:rPr>
                        <a:t>https://link.springer.com/chapter/10.1007/978-981-97-0975-5_33</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184512"/>
                  </a:ext>
                </a:extLst>
              </a:tr>
              <a:tr h="2299449">
                <a:tc>
                  <a:txBody>
                    <a:bodyPr/>
                    <a:lstStyle/>
                    <a:p>
                      <a:r>
                        <a:rPr lang="en-US" sz="2000"/>
                        <a:t>Sudhir Panda et al.</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Health Insurance Cost Prediction Using Regression Models</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Used the Medical Cost Personal Dataset containing demographic and lifestyle features. • Applied regression-based ML techniques to predict insurance costs. • Used a train-test split for evaluation.</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 The study mainly focuses on regression-based prediction. • Future work can include more advanced models and additional features.</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hlinkClick r:id="rId2" action="ppaction://hlinkpres?slideindex=1&amp;slidetitle="/>
                        </a:rPr>
                        <a:t>https://ieeexplore.ieee.org/abstract/document/9850653</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6710005"/>
                  </a:ext>
                </a:extLst>
              </a:tr>
              <a:tr h="2299449">
                <a:tc>
                  <a:txBody>
                    <a:bodyPr/>
                    <a:lstStyle/>
                    <a:p>
                      <a:r>
                        <a:rPr lang="en-US" sz="2000"/>
                        <a:t>A. S. et al.</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Machine Learning-Based Regression Framework to Predict Health Insurance Premiums</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Developed a regression-based machine learning framework. • Used features such as age, gender, BMI, children, smoking habits and geolocation. • Applied an artificial neural network for premium prediction.</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 The framework can be further evaluated using larger and more diverse datasets. • Other ML and ensemble models can be compared.</a:t>
                      </a:r>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hlinkClick r:id="rId2" action="ppaction://hlinkpres?slideindex=1&amp;slidetitle="/>
                        </a:rPr>
                        <a:t>https://www.mdpi.com/1660-4601/19/13/7898</a:t>
                      </a:r>
                      <a:endParaRPr lang="en-US" sz="2000" dirty="0"/>
                    </a:p>
                  </a:txBody>
                  <a:tcPr marL="17144" marR="17144" marT="8572" marB="85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0130136"/>
                  </a:ext>
                </a:extLst>
              </a:tr>
              <a:tr h="1403188">
                <a:tc>
                  <a:txBody>
                    <a:bodyPr/>
                    <a:lstStyle/>
                    <a:p>
                      <a:endParaRPr lang="en-US" sz="2000" dirty="0"/>
                    </a:p>
                  </a:txBody>
                  <a:tcPr marL="17144" marR="17144" marT="8572" marB="8572" anchor="ctr">
                    <a:lnL>
                      <a:noFill/>
                    </a:lnL>
                    <a:lnR>
                      <a:noFill/>
                    </a:lnR>
                    <a:lnT w="12700" cap="flat" cmpd="sng" algn="ctr">
                      <a:solidFill>
                        <a:schemeClr val="tx1"/>
                      </a:solidFill>
                      <a:prstDash val="solid"/>
                      <a:round/>
                      <a:headEnd type="none" w="med" len="med"/>
                      <a:tailEnd type="none" w="med" len="med"/>
                    </a:lnT>
                    <a:lnB>
                      <a:noFill/>
                    </a:lnB>
                  </a:tcPr>
                </a:tc>
                <a:tc>
                  <a:txBody>
                    <a:bodyPr/>
                    <a:lstStyle/>
                    <a:p>
                      <a:endParaRPr lang="en-US" sz="2000" dirty="0"/>
                    </a:p>
                  </a:txBody>
                  <a:tcPr marL="17144" marR="17144" marT="8572" marB="8572" anchor="ctr">
                    <a:lnL>
                      <a:noFill/>
                    </a:lnL>
                    <a:lnR>
                      <a:noFill/>
                    </a:lnR>
                    <a:lnT w="12700" cap="flat" cmpd="sng" algn="ctr">
                      <a:solidFill>
                        <a:schemeClr val="tx1"/>
                      </a:solidFill>
                      <a:prstDash val="solid"/>
                      <a:round/>
                      <a:headEnd type="none" w="med" len="med"/>
                      <a:tailEnd type="none" w="med" len="med"/>
                    </a:lnT>
                    <a:lnB>
                      <a:noFill/>
                    </a:lnB>
                  </a:tcPr>
                </a:tc>
                <a:tc>
                  <a:txBody>
                    <a:bodyPr/>
                    <a:lstStyle/>
                    <a:p>
                      <a:endParaRPr lang="en-US" sz="2000" dirty="0"/>
                    </a:p>
                  </a:txBody>
                  <a:tcPr marL="17144" marR="17144" marT="8572" marB="8572" anchor="ctr">
                    <a:lnL>
                      <a:noFill/>
                    </a:lnL>
                    <a:lnR>
                      <a:noFill/>
                    </a:lnR>
                    <a:lnT w="12700" cap="flat" cmpd="sng" algn="ctr">
                      <a:solidFill>
                        <a:schemeClr val="tx1"/>
                      </a:solidFill>
                      <a:prstDash val="solid"/>
                      <a:round/>
                      <a:headEnd type="none" w="med" len="med"/>
                      <a:tailEnd type="none" w="med" len="med"/>
                    </a:lnT>
                    <a:lnB>
                      <a:noFill/>
                    </a:lnB>
                  </a:tcPr>
                </a:tc>
                <a:tc>
                  <a:txBody>
                    <a:bodyPr/>
                    <a:lstStyle/>
                    <a:p>
                      <a:endParaRPr lang="en-US" sz="2000" dirty="0"/>
                    </a:p>
                  </a:txBody>
                  <a:tcPr marL="17144" marR="17144" marT="8572" marB="8572" anchor="ctr">
                    <a:lnL>
                      <a:noFill/>
                    </a:lnL>
                    <a:lnR>
                      <a:noFill/>
                    </a:lnR>
                    <a:lnT w="12700" cap="flat" cmpd="sng" algn="ctr">
                      <a:solidFill>
                        <a:schemeClr val="tx1"/>
                      </a:solidFill>
                      <a:prstDash val="solid"/>
                      <a:round/>
                      <a:headEnd type="none" w="med" len="med"/>
                      <a:tailEnd type="none" w="med" len="med"/>
                    </a:lnT>
                    <a:lnB>
                      <a:noFill/>
                    </a:lnB>
                  </a:tcPr>
                </a:tc>
                <a:tc>
                  <a:txBody>
                    <a:bodyPr/>
                    <a:lstStyle/>
                    <a:p>
                      <a:endParaRPr lang="en-US" sz="2000" dirty="0"/>
                    </a:p>
                  </a:txBody>
                  <a:tcPr marL="17144" marR="17144" marT="8572" marB="8572" anchor="ctr">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008064969"/>
                  </a:ext>
                </a:extLst>
              </a:tr>
            </a:tbl>
          </a:graphicData>
        </a:graphic>
      </p:graphicFrame>
      <p:sp>
        <p:nvSpPr>
          <p:cNvPr id="15" name="TextBox 14"/>
          <p:cNvSpPr txBox="1"/>
          <p:nvPr/>
        </p:nvSpPr>
        <p:spPr>
          <a:xfrm>
            <a:off x="304800" y="169551"/>
            <a:ext cx="14630400" cy="1150315"/>
          </a:xfrm>
          <a:prstGeom prst="rect">
            <a:avLst/>
          </a:prstGeom>
          <a:noFill/>
        </p:spPr>
        <p:txBody>
          <a:bodyPr wrap="square" rtlCol="0">
            <a:spAutoFit/>
          </a:bodyPr>
          <a:lstStyle/>
          <a:p>
            <a:pPr>
              <a:lnSpc>
                <a:spcPts val="8609"/>
              </a:lnSpc>
            </a:pPr>
            <a:r>
              <a:rPr lang="en-US" sz="6000" b="1" spc="-286" dirty="0" smtClean="0">
                <a:solidFill>
                  <a:srgbClr val="133E59"/>
                </a:solidFill>
                <a:latin typeface="Source Serif Pro Bold"/>
                <a:ea typeface="Source Serif Pro Bold"/>
                <a:cs typeface="Source Serif Pro Bold"/>
                <a:sym typeface="Source Serif Pro Bold"/>
              </a:rPr>
              <a:t>Literature Survey</a:t>
            </a:r>
            <a:endParaRPr lang="en-US" sz="6000" b="1" spc="-286" dirty="0">
              <a:solidFill>
                <a:srgbClr val="133E59"/>
              </a:solidFill>
              <a:latin typeface="Source Serif Pro Bold"/>
              <a:ea typeface="Source Serif Pro Bold"/>
              <a:cs typeface="Source Serif Pro Bold"/>
              <a:sym typeface="Source Serif Pro Bold"/>
            </a:endParaRPr>
          </a:p>
        </p:txBody>
      </p:sp>
    </p:spTree>
    <p:extLst>
      <p:ext uri="{BB962C8B-B14F-4D97-AF65-F5344CB8AC3E}">
        <p14:creationId xmlns:p14="http://schemas.microsoft.com/office/powerpoint/2010/main" val="4066863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5944850" y="0"/>
            <a:ext cx="2628900" cy="10287000"/>
          </a:xfrm>
          <a:custGeom>
            <a:avLst/>
            <a:gdLst/>
            <a:ahLst/>
            <a:cxnLst/>
            <a:rect l="l" t="t" r="r" b="b"/>
            <a:pathLst>
              <a:path w="2628900" h="10287000">
                <a:moveTo>
                  <a:pt x="0" y="0"/>
                </a:moveTo>
                <a:lnTo>
                  <a:pt x="2628900" y="0"/>
                </a:lnTo>
                <a:lnTo>
                  <a:pt x="2628900" y="10287000"/>
                </a:lnTo>
                <a:lnTo>
                  <a:pt x="0" y="10287000"/>
                </a:lnTo>
                <a:lnTo>
                  <a:pt x="0" y="0"/>
                </a:lnTo>
                <a:close/>
              </a:path>
            </a:pathLst>
          </a:custGeom>
          <a:blipFill>
            <a:blip r:embed="rId3"/>
            <a:stretch>
              <a:fillRect/>
            </a:stretch>
          </a:blipFill>
        </p:spPr>
      </p:sp>
      <p:sp>
        <p:nvSpPr>
          <p:cNvPr id="4" name="TextBox 4"/>
          <p:cNvSpPr txBox="1"/>
          <p:nvPr/>
        </p:nvSpPr>
        <p:spPr>
          <a:xfrm>
            <a:off x="530352" y="369760"/>
            <a:ext cx="14213513" cy="1103122"/>
          </a:xfrm>
          <a:prstGeom prst="rect">
            <a:avLst/>
          </a:prstGeom>
        </p:spPr>
        <p:txBody>
          <a:bodyPr lIns="0" tIns="0" rIns="0" bIns="0" rtlCol="0" anchor="t">
            <a:spAutoFit/>
          </a:bodyPr>
          <a:lstStyle/>
          <a:p>
            <a:pPr algn="l">
              <a:lnSpc>
                <a:spcPts val="8609"/>
              </a:lnSpc>
            </a:pPr>
            <a:r>
              <a:rPr lang="en-US" sz="7174" b="1" spc="-286" dirty="0" smtClean="0">
                <a:solidFill>
                  <a:srgbClr val="133E59"/>
                </a:solidFill>
                <a:latin typeface="Source Serif Pro Bold"/>
                <a:ea typeface="Source Serif Pro Bold"/>
                <a:cs typeface="Source Serif Pro Bold"/>
                <a:sym typeface="Source Serif Pro Bold"/>
              </a:rPr>
              <a:t>Proposed System</a:t>
            </a:r>
            <a:endParaRPr lang="en-US" sz="7174" b="1" spc="-286" dirty="0">
              <a:solidFill>
                <a:srgbClr val="133E59"/>
              </a:solidFill>
              <a:latin typeface="Source Serif Pro Bold"/>
              <a:ea typeface="Source Serif Pro Bold"/>
              <a:cs typeface="Source Serif Pro Bold"/>
              <a:sym typeface="Source Serif Pro Bold"/>
            </a:endParaRPr>
          </a:p>
        </p:txBody>
      </p:sp>
      <p:sp>
        <p:nvSpPr>
          <p:cNvPr id="5" name="Freeform 5"/>
          <p:cNvSpPr/>
          <p:nvPr/>
        </p:nvSpPr>
        <p:spPr>
          <a:xfrm>
            <a:off x="428625" y="1455610"/>
            <a:ext cx="11971371" cy="279819"/>
          </a:xfrm>
          <a:custGeom>
            <a:avLst/>
            <a:gdLst/>
            <a:ahLst/>
            <a:cxnLst/>
            <a:rect l="l" t="t" r="r" b="b"/>
            <a:pathLst>
              <a:path w="11971371" h="279819">
                <a:moveTo>
                  <a:pt x="0" y="0"/>
                </a:moveTo>
                <a:lnTo>
                  <a:pt x="11971371" y="0"/>
                </a:lnTo>
                <a:lnTo>
                  <a:pt x="11971371" y="279819"/>
                </a:lnTo>
                <a:lnTo>
                  <a:pt x="0" y="279819"/>
                </a:lnTo>
                <a:lnTo>
                  <a:pt x="0" y="0"/>
                </a:lnTo>
                <a:close/>
              </a:path>
            </a:pathLst>
          </a:custGeom>
          <a:blipFill>
            <a:blip r:embed="rId4">
              <a:alphaModFix amt="47000"/>
            </a:blip>
            <a:stretch>
              <a:fillRect/>
            </a:stretch>
          </a:blipFill>
        </p:spPr>
      </p:sp>
      <p:sp>
        <p:nvSpPr>
          <p:cNvPr id="10" name="TextBox 10"/>
          <p:cNvSpPr txBox="1"/>
          <p:nvPr/>
        </p:nvSpPr>
        <p:spPr>
          <a:xfrm>
            <a:off x="516497" y="2569123"/>
            <a:ext cx="11869644" cy="4656653"/>
          </a:xfrm>
          <a:prstGeom prst="rect">
            <a:avLst/>
          </a:prstGeom>
        </p:spPr>
        <p:txBody>
          <a:bodyPr lIns="0" tIns="0" rIns="0" bIns="0" rtlCol="0" anchor="t">
            <a:spAutoFit/>
          </a:bodyPr>
          <a:lstStyle/>
          <a:p>
            <a:pPr algn="l">
              <a:lnSpc>
                <a:spcPts val="3734"/>
              </a:lnSpc>
            </a:pPr>
            <a:r>
              <a:rPr lang="en-US" sz="2667" b="1" spc="53" dirty="0">
                <a:solidFill>
                  <a:srgbClr val="133E59"/>
                </a:solidFill>
                <a:latin typeface="Source Serif Pro Bold"/>
                <a:ea typeface="Source Serif Pro Bold"/>
                <a:cs typeface="Source Serif Pro Bold"/>
                <a:sym typeface="Source Serif Pro Bold"/>
              </a:rPr>
              <a:t>For this project, the proposed system considers three regression techniques:</a:t>
            </a:r>
          </a:p>
          <a:p>
            <a:pPr algn="l">
              <a:lnSpc>
                <a:spcPts val="3734"/>
              </a:lnSpc>
            </a:pPr>
            <a:endParaRPr lang="en-US" sz="2667" b="1" spc="53" dirty="0">
              <a:solidFill>
                <a:srgbClr val="133E59"/>
              </a:solidFill>
              <a:latin typeface="Source Serif Pro Bold"/>
              <a:ea typeface="Source Serif Pro Bold"/>
              <a:cs typeface="Source Serif Pro Bold"/>
              <a:sym typeface="Source Serif Pro Bold"/>
            </a:endParaRPr>
          </a:p>
          <a:p>
            <a:pPr marL="575846" lvl="1" indent="-287923" algn="l">
              <a:lnSpc>
                <a:spcPts val="3734"/>
              </a:lnSpc>
              <a:buFont typeface="Arial"/>
              <a:buChar char="•"/>
            </a:pPr>
            <a:r>
              <a:rPr lang="en-US" sz="2667" b="1" spc="53" dirty="0">
                <a:solidFill>
                  <a:srgbClr val="133E59"/>
                </a:solidFill>
                <a:latin typeface="Source Serif Pro Bold"/>
                <a:ea typeface="Source Serif Pro Bold"/>
                <a:cs typeface="Source Serif Pro Bold"/>
                <a:sym typeface="Source Serif Pro Bold"/>
              </a:rPr>
              <a:t>Linear Regression – predicts insurance charges based on the relationship between input features and cost.</a:t>
            </a:r>
          </a:p>
          <a:p>
            <a:pPr marL="575846" lvl="1" indent="-287923" algn="l">
              <a:lnSpc>
                <a:spcPts val="3734"/>
              </a:lnSpc>
              <a:buFont typeface="Arial"/>
              <a:buChar char="•"/>
            </a:pPr>
            <a:r>
              <a:rPr lang="en-US" sz="2667" b="1" spc="53" dirty="0">
                <a:solidFill>
                  <a:srgbClr val="133E59"/>
                </a:solidFill>
                <a:latin typeface="Source Serif Pro Bold"/>
                <a:ea typeface="Source Serif Pro Bold"/>
                <a:cs typeface="Source Serif Pro Bold"/>
                <a:sym typeface="Source Serif Pro Bold"/>
              </a:rPr>
              <a:t>Decision Tree Regression – predicts costs by making a sequence of feature-based decisions.</a:t>
            </a:r>
          </a:p>
          <a:p>
            <a:pPr marL="575846" lvl="1" indent="-287923" algn="l">
              <a:lnSpc>
                <a:spcPts val="3734"/>
              </a:lnSpc>
              <a:buFont typeface="Arial"/>
              <a:buChar char="•"/>
            </a:pPr>
            <a:r>
              <a:rPr lang="en-US" sz="2667" b="1" spc="53" dirty="0">
                <a:solidFill>
                  <a:srgbClr val="133E59"/>
                </a:solidFill>
                <a:latin typeface="Source Serif Pro Bold"/>
                <a:ea typeface="Source Serif Pro Bold"/>
                <a:cs typeface="Source Serif Pro Bold"/>
                <a:sym typeface="Source Serif Pro Bold"/>
              </a:rPr>
              <a:t>Random Forest Regression – combines multiple decision trees to improve prediction performance.</a:t>
            </a:r>
          </a:p>
          <a:p>
            <a:pPr algn="just">
              <a:lnSpc>
                <a:spcPts val="3734"/>
              </a:lnSpc>
              <a:spcBef>
                <a:spcPct val="0"/>
              </a:spcBef>
            </a:pPr>
            <a:endParaRPr lang="en-US" sz="2667" b="1" spc="53" dirty="0">
              <a:solidFill>
                <a:srgbClr val="133E59"/>
              </a:solidFill>
              <a:latin typeface="Source Serif Pro Bold"/>
              <a:ea typeface="Source Serif Pro Bold"/>
              <a:cs typeface="Source Serif Pro Bold"/>
              <a:sym typeface="Source Serif Pro Bo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76656" y="542741"/>
            <a:ext cx="9509760" cy="1085075"/>
          </a:xfrm>
          <a:prstGeom prst="rect">
            <a:avLst/>
          </a:prstGeom>
        </p:spPr>
        <p:txBody>
          <a:bodyPr lIns="0" tIns="0" rIns="0" bIns="0" rtlCol="0" anchor="t">
            <a:spAutoFit/>
          </a:bodyPr>
          <a:lstStyle/>
          <a:p>
            <a:pPr algn="l">
              <a:lnSpc>
                <a:spcPts val="8434"/>
              </a:lnSpc>
            </a:pPr>
            <a:r>
              <a:rPr lang="en-US" sz="7398" b="1" spc="-295" dirty="0">
                <a:solidFill>
                  <a:srgbClr val="1F3E59"/>
                </a:solidFill>
                <a:latin typeface="Source Serif Pro Bold"/>
                <a:ea typeface="Source Serif Pro Bold"/>
                <a:cs typeface="Source Serif Pro Bold"/>
                <a:sym typeface="Source Serif Pro Bold"/>
              </a:rPr>
              <a:t>Limitation/Gaps</a:t>
            </a:r>
          </a:p>
        </p:txBody>
      </p:sp>
      <p:sp>
        <p:nvSpPr>
          <p:cNvPr id="4" name="Freeform 4"/>
          <p:cNvSpPr/>
          <p:nvPr/>
        </p:nvSpPr>
        <p:spPr>
          <a:xfrm>
            <a:off x="538162" y="1847850"/>
            <a:ext cx="9153525" cy="219075"/>
          </a:xfrm>
          <a:custGeom>
            <a:avLst/>
            <a:gdLst/>
            <a:ahLst/>
            <a:cxnLst/>
            <a:rect l="l" t="t" r="r" b="b"/>
            <a:pathLst>
              <a:path w="9153525" h="219075">
                <a:moveTo>
                  <a:pt x="0" y="0"/>
                </a:moveTo>
                <a:lnTo>
                  <a:pt x="9153526" y="0"/>
                </a:lnTo>
                <a:lnTo>
                  <a:pt x="9153526" y="219075"/>
                </a:lnTo>
                <a:lnTo>
                  <a:pt x="0" y="219075"/>
                </a:lnTo>
                <a:lnTo>
                  <a:pt x="0" y="0"/>
                </a:lnTo>
                <a:close/>
              </a:path>
            </a:pathLst>
          </a:custGeom>
          <a:blipFill>
            <a:blip r:embed="rId3"/>
            <a:stretch>
              <a:fillRect/>
            </a:stretch>
          </a:blipFill>
        </p:spPr>
      </p:sp>
      <p:sp>
        <p:nvSpPr>
          <p:cNvPr id="5" name="Freeform 5"/>
          <p:cNvSpPr/>
          <p:nvPr/>
        </p:nvSpPr>
        <p:spPr>
          <a:xfrm>
            <a:off x="538163" y="2198343"/>
            <a:ext cx="14400749" cy="3759208"/>
          </a:xfrm>
          <a:custGeom>
            <a:avLst/>
            <a:gdLst/>
            <a:ahLst/>
            <a:cxnLst/>
            <a:rect l="l" t="t" r="r" b="b"/>
            <a:pathLst>
              <a:path w="14400749" h="3759208">
                <a:moveTo>
                  <a:pt x="0" y="0"/>
                </a:moveTo>
                <a:lnTo>
                  <a:pt x="14400748" y="0"/>
                </a:lnTo>
                <a:lnTo>
                  <a:pt x="14400748" y="3759209"/>
                </a:lnTo>
                <a:lnTo>
                  <a:pt x="0" y="3759209"/>
                </a:lnTo>
                <a:lnTo>
                  <a:pt x="0" y="0"/>
                </a:lnTo>
                <a:close/>
              </a:path>
            </a:pathLst>
          </a:custGeom>
          <a:blipFill>
            <a:blip r:embed="rId4"/>
            <a:stretch>
              <a:fillRect t="-26831" b="-35986"/>
            </a:stretch>
          </a:blipFill>
        </p:spPr>
      </p:sp>
      <p:sp>
        <p:nvSpPr>
          <p:cNvPr id="6" name="Freeform 6"/>
          <p:cNvSpPr/>
          <p:nvPr/>
        </p:nvSpPr>
        <p:spPr>
          <a:xfrm>
            <a:off x="713232" y="2280883"/>
            <a:ext cx="2487168" cy="514350"/>
          </a:xfrm>
          <a:custGeom>
            <a:avLst/>
            <a:gdLst/>
            <a:ahLst/>
            <a:cxnLst/>
            <a:rect l="l" t="t" r="r" b="b"/>
            <a:pathLst>
              <a:path w="2487168" h="514350">
                <a:moveTo>
                  <a:pt x="0" y="0"/>
                </a:moveTo>
                <a:lnTo>
                  <a:pt x="2487168" y="0"/>
                </a:lnTo>
                <a:lnTo>
                  <a:pt x="2487168" y="514350"/>
                </a:lnTo>
                <a:lnTo>
                  <a:pt x="0" y="514350"/>
                </a:lnTo>
                <a:lnTo>
                  <a:pt x="0" y="0"/>
                </a:lnTo>
                <a:close/>
              </a:path>
            </a:pathLst>
          </a:custGeom>
          <a:blipFill>
            <a:blip r:embed="rId5"/>
            <a:stretch>
              <a:fillRect t="-5594" r="-24264" b="-31520"/>
            </a:stretch>
          </a:blipFill>
        </p:spPr>
      </p:sp>
      <p:sp>
        <p:nvSpPr>
          <p:cNvPr id="7" name="TextBox 7"/>
          <p:cNvSpPr txBox="1"/>
          <p:nvPr/>
        </p:nvSpPr>
        <p:spPr>
          <a:xfrm>
            <a:off x="493776" y="2329580"/>
            <a:ext cx="2990088" cy="452669"/>
          </a:xfrm>
          <a:prstGeom prst="rect">
            <a:avLst/>
          </a:prstGeom>
        </p:spPr>
        <p:txBody>
          <a:bodyPr lIns="0" tIns="0" rIns="0" bIns="0" rtlCol="0" anchor="t">
            <a:spAutoFit/>
          </a:bodyPr>
          <a:lstStyle/>
          <a:p>
            <a:pPr algn="ctr">
              <a:lnSpc>
                <a:spcPts val="3612"/>
              </a:lnSpc>
              <a:spcBef>
                <a:spcPct val="0"/>
              </a:spcBef>
            </a:pPr>
            <a:r>
              <a:rPr lang="en-US" sz="2580" b="1" spc="51">
                <a:solidFill>
                  <a:srgbClr val="FFFFFF"/>
                </a:solidFill>
                <a:latin typeface="Roboto Bold"/>
                <a:ea typeface="Roboto Bold"/>
                <a:cs typeface="Roboto Bold"/>
                <a:sym typeface="Roboto Bold"/>
              </a:rPr>
              <a:t>Limitations</a:t>
            </a:r>
          </a:p>
        </p:txBody>
      </p:sp>
      <p:sp>
        <p:nvSpPr>
          <p:cNvPr id="8" name="TextBox 8"/>
          <p:cNvSpPr txBox="1"/>
          <p:nvPr/>
        </p:nvSpPr>
        <p:spPr>
          <a:xfrm>
            <a:off x="713232" y="3071458"/>
            <a:ext cx="13706914" cy="2979449"/>
          </a:xfrm>
          <a:prstGeom prst="rect">
            <a:avLst/>
          </a:prstGeom>
        </p:spPr>
        <p:txBody>
          <a:bodyPr lIns="0" tIns="0" rIns="0" bIns="0" rtlCol="0" anchor="t">
            <a:spAutoFit/>
          </a:bodyPr>
          <a:lstStyle/>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Many systems focus mainly on calculating or predicting insurance costs.</a:t>
            </a:r>
          </a:p>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Some systems use only one machine learning model.</a:t>
            </a:r>
          </a:p>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Limited analysis of how factors like age, BMI, smoking, and children affect insurance cost.</a:t>
            </a:r>
          </a:p>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Poor data preprocessing can affect prediction accuracy.</a:t>
            </a:r>
          </a:p>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Some systems do not provide detailed model performance comparison.</a:t>
            </a:r>
          </a:p>
          <a:p>
            <a:pPr marL="521683" lvl="1" indent="-260842" algn="l">
              <a:lnSpc>
                <a:spcPts val="3382"/>
              </a:lnSpc>
              <a:buFont typeface="Arial"/>
              <a:buChar char="•"/>
            </a:pPr>
            <a:r>
              <a:rPr lang="en-US" sz="2416" b="1" spc="48">
                <a:solidFill>
                  <a:srgbClr val="000000"/>
                </a:solidFill>
                <a:latin typeface="Roboto Bold"/>
                <a:ea typeface="Roboto Bold"/>
                <a:cs typeface="Roboto Bold"/>
                <a:sym typeface="Roboto Bold"/>
              </a:rPr>
              <a:t>It can be difficult to identify which ML model gives the best prediction.</a:t>
            </a:r>
          </a:p>
          <a:p>
            <a:pPr algn="l">
              <a:lnSpc>
                <a:spcPts val="3382"/>
              </a:lnSpc>
              <a:spcBef>
                <a:spcPct val="0"/>
              </a:spcBef>
            </a:pPr>
            <a:endParaRPr lang="en-US" sz="2416" b="1" spc="48">
              <a:solidFill>
                <a:srgbClr val="000000"/>
              </a:solidFill>
              <a:latin typeface="Roboto Bold"/>
              <a:ea typeface="Roboto Bold"/>
              <a:cs typeface="Roboto Bold"/>
              <a:sym typeface="Roboto Bold"/>
            </a:endParaRPr>
          </a:p>
        </p:txBody>
      </p:sp>
      <p:sp>
        <p:nvSpPr>
          <p:cNvPr id="9" name="Freeform 9"/>
          <p:cNvSpPr/>
          <p:nvPr/>
        </p:nvSpPr>
        <p:spPr>
          <a:xfrm>
            <a:off x="493776" y="6393807"/>
            <a:ext cx="14400749" cy="3503019"/>
          </a:xfrm>
          <a:custGeom>
            <a:avLst/>
            <a:gdLst/>
            <a:ahLst/>
            <a:cxnLst/>
            <a:rect l="l" t="t" r="r" b="b"/>
            <a:pathLst>
              <a:path w="14400749" h="3503019">
                <a:moveTo>
                  <a:pt x="0" y="0"/>
                </a:moveTo>
                <a:lnTo>
                  <a:pt x="14400749" y="0"/>
                </a:lnTo>
                <a:lnTo>
                  <a:pt x="14400749" y="3503019"/>
                </a:lnTo>
                <a:lnTo>
                  <a:pt x="0" y="3503019"/>
                </a:lnTo>
                <a:lnTo>
                  <a:pt x="0" y="0"/>
                </a:lnTo>
                <a:close/>
              </a:path>
            </a:pathLst>
          </a:custGeom>
          <a:blipFill>
            <a:blip r:embed="rId4"/>
            <a:stretch>
              <a:fillRect t="-15312" b="-59412"/>
            </a:stretch>
          </a:blipFill>
        </p:spPr>
      </p:sp>
      <p:sp>
        <p:nvSpPr>
          <p:cNvPr id="10" name="TextBox 10"/>
          <p:cNvSpPr txBox="1"/>
          <p:nvPr/>
        </p:nvSpPr>
        <p:spPr>
          <a:xfrm>
            <a:off x="713232" y="7303619"/>
            <a:ext cx="14602793" cy="2602393"/>
          </a:xfrm>
          <a:prstGeom prst="rect">
            <a:avLst/>
          </a:prstGeom>
        </p:spPr>
        <p:txBody>
          <a:bodyPr lIns="0" tIns="0" rIns="0" bIns="0" rtlCol="0" anchor="t">
            <a:spAutoFit/>
          </a:bodyPr>
          <a:lstStyle/>
          <a:p>
            <a:pPr marL="522479" lvl="1" indent="-261239" algn="l">
              <a:lnSpc>
                <a:spcPts val="3388"/>
              </a:lnSpc>
              <a:buFont typeface="Arial"/>
              <a:buChar char="•"/>
            </a:pPr>
            <a:r>
              <a:rPr lang="en-US" sz="2420" b="1" spc="48">
                <a:solidFill>
                  <a:srgbClr val="000000"/>
                </a:solidFill>
                <a:latin typeface="Roboto Bold"/>
                <a:ea typeface="Roboto Bold"/>
                <a:cs typeface="Roboto Bold"/>
                <a:sym typeface="Roboto Bold"/>
              </a:rPr>
              <a:t>Model Comparison Gap: Need to compare multiple regression models.</a:t>
            </a:r>
          </a:p>
          <a:p>
            <a:pPr marL="522479" lvl="1" indent="-261239" algn="l">
              <a:lnSpc>
                <a:spcPts val="3388"/>
              </a:lnSpc>
              <a:buFont typeface="Arial"/>
              <a:buChar char="•"/>
            </a:pPr>
            <a:r>
              <a:rPr lang="en-US" sz="2420" b="1" spc="48">
                <a:solidFill>
                  <a:srgbClr val="000000"/>
                </a:solidFill>
                <a:latin typeface="Roboto Bold"/>
                <a:ea typeface="Roboto Bold"/>
                <a:cs typeface="Roboto Bold"/>
                <a:sym typeface="Roboto Bold"/>
              </a:rPr>
              <a:t>Data Preprocessing Gap: Need proper handling of missing, duplicate, and inconsistent data.</a:t>
            </a:r>
          </a:p>
          <a:p>
            <a:pPr marL="522479" lvl="1" indent="-261239" algn="l">
              <a:lnSpc>
                <a:spcPts val="3388"/>
              </a:lnSpc>
              <a:buFont typeface="Arial"/>
              <a:buChar char="•"/>
            </a:pPr>
            <a:r>
              <a:rPr lang="en-US" sz="2420" b="1" spc="48">
                <a:solidFill>
                  <a:srgbClr val="000000"/>
                </a:solidFill>
                <a:latin typeface="Roboto Bold"/>
                <a:ea typeface="Roboto Bold"/>
                <a:cs typeface="Roboto Bold"/>
                <a:sym typeface="Roboto Bold"/>
              </a:rPr>
              <a:t>Factor Analysis Gap: Need to analyze which factors strongly influence insurance charges.</a:t>
            </a:r>
          </a:p>
          <a:p>
            <a:pPr marL="522479" lvl="1" indent="-261239" algn="l">
              <a:lnSpc>
                <a:spcPts val="3388"/>
              </a:lnSpc>
              <a:buFont typeface="Arial"/>
              <a:buChar char="•"/>
            </a:pPr>
            <a:r>
              <a:rPr lang="en-US" sz="2420" b="1" spc="48">
                <a:solidFill>
                  <a:srgbClr val="000000"/>
                </a:solidFill>
                <a:latin typeface="Roboto Bold"/>
                <a:ea typeface="Roboto Bold"/>
                <a:cs typeface="Roboto Bold"/>
                <a:sym typeface="Roboto Bold"/>
              </a:rPr>
              <a:t>Evaluation Gap: Need to evaluate models using MAE, RMSE, and R².</a:t>
            </a:r>
          </a:p>
          <a:p>
            <a:pPr marL="522479" lvl="1" indent="-261239" algn="l">
              <a:lnSpc>
                <a:spcPts val="3388"/>
              </a:lnSpc>
              <a:buFont typeface="Arial"/>
              <a:buChar char="•"/>
            </a:pPr>
            <a:r>
              <a:rPr lang="en-US" sz="2420" b="1" spc="48">
                <a:solidFill>
                  <a:srgbClr val="000000"/>
                </a:solidFill>
                <a:latin typeface="Roboto Bold"/>
                <a:ea typeface="Roboto Bold"/>
                <a:cs typeface="Roboto Bold"/>
                <a:sym typeface="Roboto Bold"/>
              </a:rPr>
              <a:t>Best Model Selection Gap: Need to select the most suitable model based on performance.</a:t>
            </a:r>
          </a:p>
          <a:p>
            <a:pPr algn="l">
              <a:lnSpc>
                <a:spcPts val="3734"/>
              </a:lnSpc>
              <a:spcBef>
                <a:spcPct val="0"/>
              </a:spcBef>
            </a:pPr>
            <a:endParaRPr lang="en-US" sz="2420" b="1" spc="48">
              <a:solidFill>
                <a:srgbClr val="000000"/>
              </a:solidFill>
              <a:latin typeface="Roboto Bold"/>
              <a:ea typeface="Roboto Bold"/>
              <a:cs typeface="Roboto Bold"/>
              <a:sym typeface="Roboto Bold"/>
            </a:endParaRPr>
          </a:p>
        </p:txBody>
      </p:sp>
      <p:sp>
        <p:nvSpPr>
          <p:cNvPr id="11" name="Freeform 11"/>
          <p:cNvSpPr/>
          <p:nvPr/>
        </p:nvSpPr>
        <p:spPr>
          <a:xfrm>
            <a:off x="747887" y="6384282"/>
            <a:ext cx="3324078" cy="881237"/>
          </a:xfrm>
          <a:custGeom>
            <a:avLst/>
            <a:gdLst/>
            <a:ahLst/>
            <a:cxnLst/>
            <a:rect l="l" t="t" r="r" b="b"/>
            <a:pathLst>
              <a:path w="3324078" h="881237">
                <a:moveTo>
                  <a:pt x="0" y="0"/>
                </a:moveTo>
                <a:lnTo>
                  <a:pt x="3324077" y="0"/>
                </a:lnTo>
                <a:lnTo>
                  <a:pt x="3324077" y="881237"/>
                </a:lnTo>
                <a:lnTo>
                  <a:pt x="0" y="881237"/>
                </a:lnTo>
                <a:lnTo>
                  <a:pt x="0" y="0"/>
                </a:lnTo>
                <a:close/>
              </a:path>
            </a:pathLst>
          </a:custGeom>
          <a:blipFill>
            <a:blip r:embed="rId6"/>
            <a:stretch>
              <a:fillRect l="-10808" r="-5371"/>
            </a:stretch>
          </a:blipFill>
        </p:spPr>
      </p:sp>
      <p:sp>
        <p:nvSpPr>
          <p:cNvPr id="12" name="TextBox 12"/>
          <p:cNvSpPr txBox="1"/>
          <p:nvPr/>
        </p:nvSpPr>
        <p:spPr>
          <a:xfrm>
            <a:off x="493776" y="2715574"/>
            <a:ext cx="2990088" cy="465653"/>
          </a:xfrm>
          <a:prstGeom prst="rect">
            <a:avLst/>
          </a:prstGeom>
        </p:spPr>
        <p:txBody>
          <a:bodyPr lIns="0" tIns="0" rIns="0" bIns="0" rtlCol="0" anchor="t">
            <a:spAutoFit/>
          </a:bodyPr>
          <a:lstStyle/>
          <a:p>
            <a:pPr algn="ctr">
              <a:lnSpc>
                <a:spcPts val="3734"/>
              </a:lnSpc>
              <a:spcBef>
                <a:spcPct val="0"/>
              </a:spcBef>
            </a:pPr>
            <a:endParaRPr/>
          </a:p>
        </p:txBody>
      </p:sp>
      <p:sp>
        <p:nvSpPr>
          <p:cNvPr id="13" name="TextBox 13"/>
          <p:cNvSpPr txBox="1"/>
          <p:nvPr/>
        </p:nvSpPr>
        <p:spPr>
          <a:xfrm>
            <a:off x="713232" y="6641457"/>
            <a:ext cx="2990088" cy="465653"/>
          </a:xfrm>
          <a:prstGeom prst="rect">
            <a:avLst/>
          </a:prstGeom>
        </p:spPr>
        <p:txBody>
          <a:bodyPr lIns="0" tIns="0" rIns="0" bIns="0" rtlCol="0" anchor="t">
            <a:spAutoFit/>
          </a:bodyPr>
          <a:lstStyle/>
          <a:p>
            <a:pPr algn="ctr">
              <a:lnSpc>
                <a:spcPts val="3734"/>
              </a:lnSpc>
              <a:spcBef>
                <a:spcPct val="0"/>
              </a:spcBef>
            </a:pPr>
            <a:r>
              <a:rPr lang="en-US" sz="2667" b="1" spc="53">
                <a:solidFill>
                  <a:srgbClr val="FFFFFF"/>
                </a:solidFill>
                <a:latin typeface="Roboto Bold"/>
                <a:ea typeface="Roboto Bold"/>
                <a:cs typeface="Roboto Bold"/>
                <a:sym typeface="Roboto Bold"/>
              </a:rPr>
              <a:t>Research Gaps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493776" y="2715574"/>
            <a:ext cx="2990088" cy="465653"/>
          </a:xfrm>
          <a:prstGeom prst="rect">
            <a:avLst/>
          </a:prstGeom>
        </p:spPr>
        <p:txBody>
          <a:bodyPr lIns="0" tIns="0" rIns="0" bIns="0" rtlCol="0" anchor="t">
            <a:spAutoFit/>
          </a:bodyPr>
          <a:lstStyle/>
          <a:p>
            <a:pPr algn="ctr">
              <a:lnSpc>
                <a:spcPts val="3734"/>
              </a:lnSpc>
              <a:spcBef>
                <a:spcPct val="0"/>
              </a:spcBef>
            </a:pPr>
            <a:endParaRPr/>
          </a:p>
        </p:txBody>
      </p:sp>
      <p:sp>
        <p:nvSpPr>
          <p:cNvPr id="2" name="TextBox 1"/>
          <p:cNvSpPr txBox="1"/>
          <p:nvPr/>
        </p:nvSpPr>
        <p:spPr>
          <a:xfrm>
            <a:off x="5886450" y="3533730"/>
            <a:ext cx="15240000" cy="1200329"/>
          </a:xfrm>
          <a:prstGeom prst="rect">
            <a:avLst/>
          </a:prstGeom>
          <a:noFill/>
        </p:spPr>
        <p:txBody>
          <a:bodyPr wrap="square" rtlCol="0">
            <a:spAutoFit/>
          </a:bodyPr>
          <a:lstStyle/>
          <a:p>
            <a:r>
              <a:rPr lang="en-US" sz="7200" dirty="0" smtClean="0"/>
              <a:t>THANK YOU!!!</a:t>
            </a:r>
            <a:endParaRPr lang="en-US" sz="7200" dirty="0"/>
          </a:p>
        </p:txBody>
      </p:sp>
      <p:sp>
        <p:nvSpPr>
          <p:cNvPr id="6" name="Freeform 3"/>
          <p:cNvSpPr/>
          <p:nvPr/>
        </p:nvSpPr>
        <p:spPr>
          <a:xfrm>
            <a:off x="1357745" y="1306746"/>
            <a:ext cx="8715375" cy="6219825"/>
          </a:xfrm>
          <a:custGeom>
            <a:avLst/>
            <a:gdLst/>
            <a:ahLst/>
            <a:cxnLst/>
            <a:rect l="l" t="t" r="r" b="b"/>
            <a:pathLst>
              <a:path w="8715375" h="6219825">
                <a:moveTo>
                  <a:pt x="0" y="0"/>
                </a:moveTo>
                <a:lnTo>
                  <a:pt x="8715375" y="0"/>
                </a:lnTo>
                <a:lnTo>
                  <a:pt x="8715375" y="6219826"/>
                </a:lnTo>
                <a:lnTo>
                  <a:pt x="0" y="6219826"/>
                </a:lnTo>
                <a:lnTo>
                  <a:pt x="0" y="0"/>
                </a:lnTo>
                <a:close/>
              </a:path>
            </a:pathLst>
          </a:custGeom>
          <a:blipFill>
            <a:blip r:embed="rId2">
              <a:alphaModFix amt="25000"/>
            </a:blip>
            <a:stretch>
              <a:fillRect/>
            </a:stretch>
          </a:blipFill>
        </p:spPr>
      </p:sp>
      <p:sp>
        <p:nvSpPr>
          <p:cNvPr id="7" name="Freeform 4"/>
          <p:cNvSpPr/>
          <p:nvPr/>
        </p:nvSpPr>
        <p:spPr>
          <a:xfrm>
            <a:off x="7239000" y="2267084"/>
            <a:ext cx="8934450" cy="4933950"/>
          </a:xfrm>
          <a:custGeom>
            <a:avLst/>
            <a:gdLst/>
            <a:ahLst/>
            <a:cxnLst/>
            <a:rect l="l" t="t" r="r" b="b"/>
            <a:pathLst>
              <a:path w="8934450" h="4933950">
                <a:moveTo>
                  <a:pt x="0" y="0"/>
                </a:moveTo>
                <a:lnTo>
                  <a:pt x="8934450" y="0"/>
                </a:lnTo>
                <a:lnTo>
                  <a:pt x="8934450" y="4933950"/>
                </a:lnTo>
                <a:lnTo>
                  <a:pt x="0" y="4933950"/>
                </a:lnTo>
                <a:lnTo>
                  <a:pt x="0" y="0"/>
                </a:lnTo>
                <a:close/>
              </a:path>
            </a:pathLst>
          </a:custGeom>
          <a:blipFill>
            <a:blip r:embed="rId3">
              <a:alphaModFix amt="34000"/>
            </a:blip>
            <a:stretch>
              <a:fillRect/>
            </a:stretch>
          </a:blipFill>
        </p:spPr>
      </p:sp>
      <p:sp>
        <p:nvSpPr>
          <p:cNvPr id="8" name="Freeform 5"/>
          <p:cNvSpPr/>
          <p:nvPr/>
        </p:nvSpPr>
        <p:spPr>
          <a:xfrm>
            <a:off x="6705600" y="3150054"/>
            <a:ext cx="7410450" cy="3438525"/>
          </a:xfrm>
          <a:custGeom>
            <a:avLst/>
            <a:gdLst/>
            <a:ahLst/>
            <a:cxnLst/>
            <a:rect l="l" t="t" r="r" b="b"/>
            <a:pathLst>
              <a:path w="7410450" h="3438525">
                <a:moveTo>
                  <a:pt x="0" y="0"/>
                </a:moveTo>
                <a:lnTo>
                  <a:pt x="7410450" y="0"/>
                </a:lnTo>
                <a:lnTo>
                  <a:pt x="7410450" y="3438525"/>
                </a:lnTo>
                <a:lnTo>
                  <a:pt x="0" y="3438525"/>
                </a:lnTo>
                <a:lnTo>
                  <a:pt x="0" y="0"/>
                </a:lnTo>
                <a:close/>
              </a:path>
            </a:pathLst>
          </a:custGeom>
          <a:blipFill>
            <a:blip r:embed="rId4">
              <a:alphaModFix amt="31000"/>
            </a:blip>
            <a:stretch>
              <a:fillRect/>
            </a:stretch>
          </a:blipFill>
        </p:spPr>
      </p:sp>
    </p:spTree>
    <p:extLst>
      <p:ext uri="{BB962C8B-B14F-4D97-AF65-F5344CB8AC3E}">
        <p14:creationId xmlns:p14="http://schemas.microsoft.com/office/powerpoint/2010/main" val="7306998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829</Words>
  <Application>Microsoft Office PowerPoint</Application>
  <PresentationFormat>Custom</PresentationFormat>
  <Paragraphs>78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Source Serif Pro Bold</vt:lpstr>
      <vt:lpstr>Arial</vt:lpstr>
      <vt:lpstr>Roboto Bold</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Insurance Cost Predictor</dc:title>
  <dc:creator>Admin</dc:creator>
  <cp:lastModifiedBy>Admin</cp:lastModifiedBy>
  <cp:revision>16</cp:revision>
  <dcterms:created xsi:type="dcterms:W3CDTF">2006-08-16T00:00:00Z</dcterms:created>
  <dcterms:modified xsi:type="dcterms:W3CDTF">2026-09-15T04:20:11Z</dcterms:modified>
  <dc:identifier>DAHVLXti4TE</dc:identifier>
</cp:coreProperties>
</file>